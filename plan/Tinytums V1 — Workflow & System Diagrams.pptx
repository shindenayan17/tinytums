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747775"/>
          </p15:clr>
        </p15:guide>
        <p15:guide id="2" pos="57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  <p:guide pos="57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0" name="Google Shape;47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4" name="Google Shape;55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2" name="Google Shape;60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0" name="Google Shape;65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BFD"/>
          </a:solidFill>
          <a:ln cap="flat" cmpd="sng" w="12700">
            <a:solidFill>
              <a:srgbClr val="FAFBF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85800" y="1097280"/>
            <a:ext cx="16916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Tinytums V1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685800" y="1828800"/>
            <a:ext cx="1691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Workflow &amp; System Diagram Pack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85800" y="2423160"/>
            <a:ext cx="1691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Editable Google Slides engineering canvases — one complete workflow per slide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920240" y="3931920"/>
            <a:ext cx="2331720" cy="914400"/>
          </a:xfrm>
          <a:prstGeom prst="roundRect">
            <a:avLst>
              <a:gd fmla="val 8000" name="adj"/>
            </a:avLst>
          </a:prstGeom>
          <a:solidFill>
            <a:srgbClr val="FCE7F3"/>
          </a:solidFill>
          <a:ln cap="flat" cmpd="sng" w="15225">
            <a:solidFill>
              <a:srgbClr val="DB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Mother + Child longitudinal record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846320" y="3931920"/>
            <a:ext cx="2331720" cy="914400"/>
          </a:xfrm>
          <a:prstGeom prst="roundRect">
            <a:avLst>
              <a:gd fmla="val 8000" name="adj"/>
            </a:avLst>
          </a:prstGeom>
          <a:solidFill>
            <a:srgbClr val="DBEAFE"/>
          </a:solidFill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Doctor × Institution workflow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7772400" y="3931920"/>
            <a:ext cx="2331720" cy="914400"/>
          </a:xfrm>
          <a:prstGeom prst="roundRect">
            <a:avLst>
              <a:gd fmla="val 8000" name="adj"/>
            </a:avLst>
          </a:prstGeom>
          <a:solidFill>
            <a:srgbClr val="DCFCE7"/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Care episode / admission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0698480" y="3931920"/>
            <a:ext cx="2331720" cy="914400"/>
          </a:xfrm>
          <a:prstGeom prst="roundRect">
            <a:avLst>
              <a:gd fmla="val 8000" name="adj"/>
            </a:avLst>
          </a:prstGeom>
          <a:solidFill>
            <a:srgbClr val="EDE9FE"/>
          </a:solidFill>
          <a:ln cap="flat" cmpd="sng" w="152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Consent + RBAC + audit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13624560" y="3931920"/>
            <a:ext cx="2331720" cy="914400"/>
          </a:xfrm>
          <a:prstGeom prst="roundRect">
            <a:avLst>
              <a:gd fmla="val 8000" name="adj"/>
            </a:avLst>
          </a:prstGeom>
          <a:solidFill>
            <a:srgbClr val="FEE2E2"/>
          </a:solidFill>
          <a:ln cap="flat" cmpd="sng" w="152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V1 regulatory boundary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2286000" y="7909560"/>
            <a:ext cx="1371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Source basis: Tinytums Product Master, Founder Dashboard, and current founder decisions captured in this workspace.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D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BFD"/>
          </a:solidFill>
          <a:ln cap="flat" cmpd="sng" w="12700">
            <a:solidFill>
              <a:srgbClr val="FAFBF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384048" y="320040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143000" y="201168"/>
            <a:ext cx="1243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System Context Map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1005840" y="713232"/>
            <a:ext cx="1627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complete V1 product context: consumer account, clinical users, institution workflows, data domains, and future regulated module boundary.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" name="Google Shape;35;p4"/>
          <p:cNvCxnSpPr/>
          <p:nvPr/>
        </p:nvCxnSpPr>
        <p:spPr>
          <a:xfrm>
            <a:off x="502920" y="1124712"/>
            <a:ext cx="17282160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" name="Google Shape;36;p4"/>
          <p:cNvCxnSpPr/>
          <p:nvPr/>
        </p:nvCxnSpPr>
        <p:spPr>
          <a:xfrm>
            <a:off x="2926080" y="2217420"/>
            <a:ext cx="3749040" cy="75438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" name="Google Shape;37;p4"/>
          <p:cNvCxnSpPr/>
          <p:nvPr/>
        </p:nvCxnSpPr>
        <p:spPr>
          <a:xfrm flipH="1" rot="10800000">
            <a:off x="2926080" y="2971800"/>
            <a:ext cx="3749040" cy="48006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" name="Google Shape;38;p4"/>
          <p:cNvCxnSpPr/>
          <p:nvPr/>
        </p:nvCxnSpPr>
        <p:spPr>
          <a:xfrm flipH="1">
            <a:off x="11612880" y="2217420"/>
            <a:ext cx="3749040" cy="75438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" name="Google Shape;39;p4"/>
          <p:cNvCxnSpPr/>
          <p:nvPr/>
        </p:nvCxnSpPr>
        <p:spPr>
          <a:xfrm rot="10800000">
            <a:off x="11612880" y="2971800"/>
            <a:ext cx="3749040" cy="48006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0" name="Google Shape;40;p4"/>
          <p:cNvCxnSpPr/>
          <p:nvPr/>
        </p:nvCxnSpPr>
        <p:spPr>
          <a:xfrm rot="10800000">
            <a:off x="11612880" y="2971800"/>
            <a:ext cx="3749040" cy="171450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1" name="Google Shape;41;p4"/>
          <p:cNvCxnSpPr/>
          <p:nvPr/>
        </p:nvCxnSpPr>
        <p:spPr>
          <a:xfrm flipH="1">
            <a:off x="4640580" y="3474720"/>
            <a:ext cx="4503420" cy="1920240"/>
          </a:xfrm>
          <a:prstGeom prst="straightConnector1">
            <a:avLst/>
          </a:prstGeom>
          <a:noFill/>
          <a:ln cap="flat" cmpd="sng" w="101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" name="Google Shape;42;p4"/>
          <p:cNvCxnSpPr/>
          <p:nvPr/>
        </p:nvCxnSpPr>
        <p:spPr>
          <a:xfrm flipH="1">
            <a:off x="7109460" y="3474720"/>
            <a:ext cx="2034540" cy="1920240"/>
          </a:xfrm>
          <a:prstGeom prst="straightConnector1">
            <a:avLst/>
          </a:prstGeom>
          <a:noFill/>
          <a:ln cap="flat" cmpd="sng" w="101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" name="Google Shape;43;p4"/>
          <p:cNvCxnSpPr/>
          <p:nvPr/>
        </p:nvCxnSpPr>
        <p:spPr>
          <a:xfrm>
            <a:off x="9144000" y="3474720"/>
            <a:ext cx="434340" cy="1920240"/>
          </a:xfrm>
          <a:prstGeom prst="straightConnector1">
            <a:avLst/>
          </a:prstGeom>
          <a:noFill/>
          <a:ln cap="flat" cmpd="sng" w="101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" name="Google Shape;44;p4"/>
          <p:cNvCxnSpPr/>
          <p:nvPr/>
        </p:nvCxnSpPr>
        <p:spPr>
          <a:xfrm>
            <a:off x="9144000" y="3474720"/>
            <a:ext cx="2903220" cy="1920240"/>
          </a:xfrm>
          <a:prstGeom prst="straightConnector1">
            <a:avLst/>
          </a:prstGeom>
          <a:noFill/>
          <a:ln cap="flat" cmpd="sng" w="101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" name="Google Shape;45;p4"/>
          <p:cNvCxnSpPr/>
          <p:nvPr/>
        </p:nvCxnSpPr>
        <p:spPr>
          <a:xfrm flipH="1">
            <a:off x="3406140" y="3474720"/>
            <a:ext cx="5737860" cy="2971800"/>
          </a:xfrm>
          <a:prstGeom prst="straightConnector1">
            <a:avLst/>
          </a:prstGeom>
          <a:noFill/>
          <a:ln cap="flat" cmpd="sng" w="101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6" name="Google Shape;46;p4"/>
          <p:cNvCxnSpPr/>
          <p:nvPr/>
        </p:nvCxnSpPr>
        <p:spPr>
          <a:xfrm flipH="1">
            <a:off x="5875020" y="3474720"/>
            <a:ext cx="3268980" cy="2971800"/>
          </a:xfrm>
          <a:prstGeom prst="straightConnector1">
            <a:avLst/>
          </a:prstGeom>
          <a:noFill/>
          <a:ln cap="flat" cmpd="sng" w="101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" name="Google Shape;47;p4"/>
          <p:cNvCxnSpPr/>
          <p:nvPr/>
        </p:nvCxnSpPr>
        <p:spPr>
          <a:xfrm flipH="1">
            <a:off x="8343900" y="3474720"/>
            <a:ext cx="800100" cy="2971800"/>
          </a:xfrm>
          <a:prstGeom prst="straightConnector1">
            <a:avLst/>
          </a:prstGeom>
          <a:noFill/>
          <a:ln cap="flat" cmpd="sng" w="101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" name="Google Shape;48;p4"/>
          <p:cNvCxnSpPr/>
          <p:nvPr/>
        </p:nvCxnSpPr>
        <p:spPr>
          <a:xfrm>
            <a:off x="9144000" y="3474720"/>
            <a:ext cx="1668780" cy="2971800"/>
          </a:xfrm>
          <a:prstGeom prst="straightConnector1">
            <a:avLst/>
          </a:prstGeom>
          <a:noFill/>
          <a:ln cap="flat" cmpd="sng" w="101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9" name="Google Shape;49;p4"/>
          <p:cNvCxnSpPr/>
          <p:nvPr/>
        </p:nvCxnSpPr>
        <p:spPr>
          <a:xfrm>
            <a:off x="9144000" y="3474720"/>
            <a:ext cx="4137660" cy="2971800"/>
          </a:xfrm>
          <a:prstGeom prst="straightConnector1">
            <a:avLst/>
          </a:prstGeom>
          <a:noFill/>
          <a:ln cap="flat" cmpd="sng" w="101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0" name="Google Shape;50;p4"/>
          <p:cNvCxnSpPr/>
          <p:nvPr/>
        </p:nvCxnSpPr>
        <p:spPr>
          <a:xfrm flipH="1">
            <a:off x="4640580" y="3474720"/>
            <a:ext cx="4503420" cy="4023360"/>
          </a:xfrm>
          <a:prstGeom prst="straightConnector1">
            <a:avLst/>
          </a:prstGeom>
          <a:noFill/>
          <a:ln cap="flat" cmpd="sng" w="101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1" name="Google Shape;51;p4"/>
          <p:cNvCxnSpPr/>
          <p:nvPr/>
        </p:nvCxnSpPr>
        <p:spPr>
          <a:xfrm flipH="1">
            <a:off x="7109460" y="3474720"/>
            <a:ext cx="2034540" cy="4023360"/>
          </a:xfrm>
          <a:prstGeom prst="straightConnector1">
            <a:avLst/>
          </a:prstGeom>
          <a:noFill/>
          <a:ln cap="flat" cmpd="sng" w="101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" name="Google Shape;52;p4"/>
          <p:cNvCxnSpPr/>
          <p:nvPr/>
        </p:nvCxnSpPr>
        <p:spPr>
          <a:xfrm>
            <a:off x="9144000" y="3474720"/>
            <a:ext cx="434340" cy="4023360"/>
          </a:xfrm>
          <a:prstGeom prst="straightConnector1">
            <a:avLst/>
          </a:prstGeom>
          <a:noFill/>
          <a:ln cap="flat" cmpd="sng" w="101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3" name="Google Shape;53;p4"/>
          <p:cNvCxnSpPr/>
          <p:nvPr/>
        </p:nvCxnSpPr>
        <p:spPr>
          <a:xfrm>
            <a:off x="9144000" y="3474720"/>
            <a:ext cx="2903220" cy="4023360"/>
          </a:xfrm>
          <a:prstGeom prst="straightConnector1">
            <a:avLst/>
          </a:prstGeom>
          <a:noFill/>
          <a:ln cap="flat" cmpd="sng" w="101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4" name="Google Shape;54;p4"/>
          <p:cNvCxnSpPr/>
          <p:nvPr/>
        </p:nvCxnSpPr>
        <p:spPr>
          <a:xfrm>
            <a:off x="9144000" y="8156448"/>
            <a:ext cx="0" cy="393192"/>
          </a:xfrm>
          <a:prstGeom prst="straightConnector1">
            <a:avLst/>
          </a:prstGeom>
          <a:noFill/>
          <a:ln cap="flat" cmpd="sng" w="13950">
            <a:solidFill>
              <a:srgbClr val="DC262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5" name="Google Shape;55;p4"/>
          <p:cNvSpPr/>
          <p:nvPr/>
        </p:nvSpPr>
        <p:spPr>
          <a:xfrm>
            <a:off x="777240" y="1828800"/>
            <a:ext cx="2148840" cy="777240"/>
          </a:xfrm>
          <a:prstGeom prst="roundRect">
            <a:avLst>
              <a:gd fmla="val 9412" name="adj"/>
            </a:avLst>
          </a:prstGeom>
          <a:solidFill>
            <a:srgbClr val="FCE7F3"/>
          </a:solidFill>
          <a:ln cap="flat" cmpd="sng" w="15225">
            <a:solidFill>
              <a:srgbClr val="DB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Mother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consumer account owner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777240" y="3063240"/>
            <a:ext cx="2148840" cy="777240"/>
          </a:xfrm>
          <a:prstGeom prst="roundRect">
            <a:avLst>
              <a:gd fmla="val 9412" name="adj"/>
            </a:avLst>
          </a:prstGeom>
          <a:solidFill>
            <a:srgbClr val="FCE7F3"/>
          </a:solidFill>
          <a:ln cap="flat" cmpd="sng" w="15225">
            <a:solidFill>
              <a:srgbClr val="DB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Family caregiver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read-only selected view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15361920" y="1828800"/>
            <a:ext cx="2148840" cy="777240"/>
          </a:xfrm>
          <a:prstGeom prst="roundRect">
            <a:avLst>
              <a:gd fmla="val 9412" name="adj"/>
            </a:avLst>
          </a:prstGeom>
          <a:solidFill>
            <a:srgbClr val="DBEAFE"/>
          </a:solidFill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Doctor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Doctor X @ Institution Y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15361920" y="3063240"/>
            <a:ext cx="2148840" cy="777240"/>
          </a:xfrm>
          <a:prstGeom prst="roundRect">
            <a:avLst>
              <a:gd fmla="val 9412" name="adj"/>
            </a:avLst>
          </a:prstGeom>
          <a:solidFill>
            <a:srgbClr val="DCFCE7"/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Care team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role-specific access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15361920" y="4297680"/>
            <a:ext cx="2148840" cy="777240"/>
          </a:xfrm>
          <a:prstGeom prst="roundRect">
            <a:avLst>
              <a:gd fmla="val 9412" name="adj"/>
            </a:avLst>
          </a:prstGeom>
          <a:solidFill>
            <a:srgbClr val="CCFBF1"/>
          </a:solidFill>
          <a:ln cap="flat" cmpd="sng" w="152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Institution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hospital / clinic account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6675120" y="2468880"/>
            <a:ext cx="4937760" cy="100584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5225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Tinytums V1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longitudinal maternal–child care layer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3657600" y="5394960"/>
            <a:ext cx="1965960" cy="658368"/>
          </a:xfrm>
          <a:prstGeom prst="roundRect">
            <a:avLst>
              <a:gd fmla="val 11111" name="adj"/>
            </a:avLst>
          </a:prstGeom>
          <a:solidFill>
            <a:srgbClr val="F1F5F9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60"/>
              <a:buFont typeface="Arial"/>
              <a:buNone/>
            </a:pPr>
            <a:r>
              <a:rPr b="0" i="0" lang="en-US" sz="86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Identity &amp; Accounts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6126480" y="5394960"/>
            <a:ext cx="1965960" cy="658368"/>
          </a:xfrm>
          <a:prstGeom prst="roundRect">
            <a:avLst>
              <a:gd fmla="val 11111" name="adj"/>
            </a:avLst>
          </a:prstGeom>
          <a:solidFill>
            <a:srgbClr val="FCE7F3"/>
          </a:solidFill>
          <a:ln cap="flat" cmpd="sng" w="15225">
            <a:solidFill>
              <a:srgbClr val="DB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60"/>
              <a:buFont typeface="Arial"/>
              <a:buNone/>
            </a:pPr>
            <a:r>
              <a:rPr b="0" i="0" lang="en-US" sz="86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Mother Master Profile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8595360" y="5394960"/>
            <a:ext cx="1965960" cy="658368"/>
          </a:xfrm>
          <a:prstGeom prst="roundRect">
            <a:avLst>
              <a:gd fmla="val 11111" name="adj"/>
            </a:avLst>
          </a:prstGeom>
          <a:solidFill>
            <a:srgbClr val="FCE7F3"/>
          </a:solidFill>
          <a:ln cap="flat" cmpd="sng" w="15225">
            <a:solidFill>
              <a:srgbClr val="DB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60"/>
              <a:buFont typeface="Arial"/>
              <a:buNone/>
            </a:pPr>
            <a:r>
              <a:rPr b="0" i="0" lang="en-US" sz="86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Pregnancy Episode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11064240" y="5394960"/>
            <a:ext cx="1965960" cy="658368"/>
          </a:xfrm>
          <a:prstGeom prst="roundRect">
            <a:avLst>
              <a:gd fmla="val 11111" name="adj"/>
            </a:avLst>
          </a:prstGeom>
          <a:solidFill>
            <a:srgbClr val="FCE7F3"/>
          </a:solidFill>
          <a:ln cap="flat" cmpd="sng" w="15225">
            <a:solidFill>
              <a:srgbClr val="DB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60"/>
              <a:buFont typeface="Arial"/>
              <a:buNone/>
            </a:pPr>
            <a:r>
              <a:rPr b="0" i="0" lang="en-US" sz="86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Child Profile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2423160" y="6446520"/>
            <a:ext cx="1965960" cy="658368"/>
          </a:xfrm>
          <a:prstGeom prst="roundRect">
            <a:avLst>
              <a:gd fmla="val 11111" name="adj"/>
            </a:avLst>
          </a:prstGeom>
          <a:solidFill>
            <a:srgbClr val="F1F5F9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60"/>
              <a:buFont typeface="Arial"/>
              <a:buNone/>
            </a:pPr>
            <a:r>
              <a:rPr b="0" i="0" lang="en-US" sz="86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Measurements &amp; Tracking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4892040" y="6446520"/>
            <a:ext cx="1965960" cy="658368"/>
          </a:xfrm>
          <a:prstGeom prst="roundRect">
            <a:avLst>
              <a:gd fmla="val 11111" name="adj"/>
            </a:avLst>
          </a:prstGeom>
          <a:solidFill>
            <a:srgbClr val="F1F5F9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60"/>
              <a:buFont typeface="Arial"/>
              <a:buNone/>
            </a:pPr>
            <a:r>
              <a:rPr b="0" i="0" lang="en-US" sz="86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Documents / Reports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7360920" y="6446520"/>
            <a:ext cx="1965960" cy="658368"/>
          </a:xfrm>
          <a:prstGeom prst="roundRect">
            <a:avLst>
              <a:gd fmla="val 11111" name="adj"/>
            </a:avLst>
          </a:prstGeom>
          <a:solidFill>
            <a:srgbClr val="CFFAFE"/>
          </a:solidFill>
          <a:ln cap="flat" cmpd="sng" w="152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60"/>
              <a:buFont typeface="Arial"/>
              <a:buNone/>
            </a:pPr>
            <a:r>
              <a:rPr b="0" i="0" lang="en-US" sz="86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Appointments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9829800" y="6446520"/>
            <a:ext cx="1965960" cy="658368"/>
          </a:xfrm>
          <a:prstGeom prst="roundRect">
            <a:avLst>
              <a:gd fmla="val 11111" name="adj"/>
            </a:avLst>
          </a:prstGeom>
          <a:solidFill>
            <a:srgbClr val="CFFAFE"/>
          </a:solidFill>
          <a:ln cap="flat" cmpd="sng" w="152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60"/>
              <a:buFont typeface="Arial"/>
              <a:buNone/>
            </a:pPr>
            <a:r>
              <a:rPr b="0" i="0" lang="en-US" sz="86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Teleconsult / Messaging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2298680" y="6446520"/>
            <a:ext cx="1965960" cy="658368"/>
          </a:xfrm>
          <a:prstGeom prst="roundRect">
            <a:avLst>
              <a:gd fmla="val 11111" name="adj"/>
            </a:avLst>
          </a:prstGeom>
          <a:solidFill>
            <a:srgbClr val="DCFCE7"/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60"/>
              <a:buFont typeface="Arial"/>
              <a:buNone/>
            </a:pPr>
            <a:r>
              <a:rPr b="0" i="0" lang="en-US" sz="86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Admission Episodes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3657600" y="7498080"/>
            <a:ext cx="1965960" cy="658368"/>
          </a:xfrm>
          <a:prstGeom prst="roundRect">
            <a:avLst>
              <a:gd fmla="val 11111" name="adj"/>
            </a:avLst>
          </a:prstGeom>
          <a:solidFill>
            <a:srgbClr val="CCFBF1"/>
          </a:solidFill>
          <a:ln cap="flat" cmpd="sng" w="152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60"/>
              <a:buFont typeface="Arial"/>
              <a:buNone/>
            </a:pPr>
            <a:r>
              <a:rPr b="0" i="0" lang="en-US" sz="86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Institution Directory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6126480" y="7498080"/>
            <a:ext cx="1965960" cy="658368"/>
          </a:xfrm>
          <a:prstGeom prst="roundRect">
            <a:avLst>
              <a:gd fmla="val 11111" name="adj"/>
            </a:avLst>
          </a:prstGeom>
          <a:solidFill>
            <a:srgbClr val="DCFCE7"/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60"/>
              <a:buFont typeface="Arial"/>
              <a:buNone/>
            </a:pPr>
            <a:r>
              <a:rPr b="0" i="0" lang="en-US" sz="86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Care Teams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8595360" y="7498080"/>
            <a:ext cx="1965960" cy="658368"/>
          </a:xfrm>
          <a:prstGeom prst="roundRect">
            <a:avLst>
              <a:gd fmla="val 11111" name="adj"/>
            </a:avLst>
          </a:prstGeom>
          <a:solidFill>
            <a:srgbClr val="EDE9FE"/>
          </a:solidFill>
          <a:ln cap="flat" cmpd="sng" w="152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60"/>
              <a:buFont typeface="Arial"/>
              <a:buNone/>
            </a:pPr>
            <a:r>
              <a:rPr b="0" i="0" lang="en-US" sz="86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Consent / Permissions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11064240" y="7498080"/>
            <a:ext cx="1965960" cy="658368"/>
          </a:xfrm>
          <a:prstGeom prst="roundRect">
            <a:avLst>
              <a:gd fmla="val 11111" name="adj"/>
            </a:avLst>
          </a:prstGeom>
          <a:solidFill>
            <a:srgbClr val="EDE9FE"/>
          </a:solidFill>
          <a:ln cap="flat" cmpd="sng" w="152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60"/>
              <a:buFont typeface="Arial"/>
              <a:buNone/>
            </a:pPr>
            <a:r>
              <a:rPr b="0" i="0" lang="en-US" sz="86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Audit Trail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6400800" y="8549640"/>
            <a:ext cx="5486400" cy="822960"/>
          </a:xfrm>
          <a:prstGeom prst="roundRect">
            <a:avLst>
              <a:gd fmla="val 8889" name="adj"/>
            </a:avLst>
          </a:prstGeom>
          <a:solidFill>
            <a:srgbClr val="FEE2E2"/>
          </a:solidFill>
          <a:ln cap="flat" cmpd="sng" w="152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60"/>
              <a:buFont typeface="Arial"/>
              <a:buNone/>
            </a:pPr>
            <a:r>
              <a:rPr b="0" i="0" lang="en-US" sz="86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V2+ regulated clinical intelligence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60"/>
              <a:buFont typeface="Arial"/>
              <a:buNone/>
            </a:pPr>
            <a:r>
              <a:rPr b="0" i="0" lang="en-US" sz="86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flags / triage / risk / treatment support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60"/>
              <a:buFont typeface="Arial"/>
              <a:buNone/>
            </a:pPr>
            <a:r>
              <a:rPr b="0" i="0" lang="en-US" sz="86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separate regulatory gate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868680" y="8458200"/>
            <a:ext cx="4754880" cy="777240"/>
          </a:xfrm>
          <a:prstGeom prst="roundRect">
            <a:avLst>
              <a:gd fmla="val 9412" name="adj"/>
            </a:avLst>
          </a:prstGeom>
          <a:solidFill>
            <a:srgbClr val="FEE2E2"/>
          </a:solidFill>
          <a:ln cap="flat" cmpd="sng" w="152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V1 rule: store, organise, display, summarise and transmit factual information. Do not diagnose, triage, predict deterioration, assign urgency, or recommend treatment automatically.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502920" y="9930384"/>
            <a:ext cx="17282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Tinytums V1 — engineering diagram canvas | rounded = workflow action | diamond = decision | cylinder = stored data | dashed = data/access relation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D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BFD"/>
          </a:solidFill>
          <a:ln cap="flat" cmpd="sng" w="12700">
            <a:solidFill>
              <a:srgbClr val="FAFBF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384048" y="320040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1143000" y="201168"/>
            <a:ext cx="1243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Mother Complete Workflow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1005840" y="713232"/>
            <a:ext cx="1627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One unified journey: preconception, pregnancy, postpartum, child health, appointments, admissions, caregiver sharing, and clinician connections.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" name="Google Shape;86;p5"/>
          <p:cNvCxnSpPr/>
          <p:nvPr/>
        </p:nvCxnSpPr>
        <p:spPr>
          <a:xfrm>
            <a:off x="502920" y="1124712"/>
            <a:ext cx="17282160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5"/>
          <p:cNvSpPr/>
          <p:nvPr/>
        </p:nvSpPr>
        <p:spPr>
          <a:xfrm>
            <a:off x="502920" y="1417320"/>
            <a:ext cx="17282160" cy="2377440"/>
          </a:xfrm>
          <a:prstGeom prst="roundRect">
            <a:avLst>
              <a:gd fmla="val 4615" name="adj"/>
            </a:avLst>
          </a:prstGeom>
          <a:solidFill>
            <a:srgbClr val="FCE7F3">
              <a:alpha val="90196"/>
            </a:srgbClr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640080" y="148132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Mother app journey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502920" y="4069080"/>
            <a:ext cx="17282160" cy="2103120"/>
          </a:xfrm>
          <a:prstGeom prst="roundRect">
            <a:avLst>
              <a:gd fmla="val 5217" name="adj"/>
            </a:avLst>
          </a:prstGeom>
          <a:solidFill>
            <a:srgbClr val="DBEAFE">
              <a:alpha val="90196"/>
            </a:srgbClr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640080" y="413308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Clinical connection / services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502920" y="6446520"/>
            <a:ext cx="17282160" cy="3063240"/>
          </a:xfrm>
          <a:prstGeom prst="roundRect">
            <a:avLst>
              <a:gd fmla="val 3582" name="adj"/>
            </a:avLst>
          </a:prstGeom>
          <a:solidFill>
            <a:srgbClr val="F1F5F9">
              <a:alpha val="90196"/>
            </a:srgbClr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640080" y="651052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Longitudinal record outcomes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" name="Google Shape;93;p5"/>
          <p:cNvCxnSpPr/>
          <p:nvPr/>
        </p:nvCxnSpPr>
        <p:spPr>
          <a:xfrm>
            <a:off x="2011680" y="2171700"/>
            <a:ext cx="22860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4" name="Google Shape;94;p5"/>
          <p:cNvCxnSpPr/>
          <p:nvPr/>
        </p:nvCxnSpPr>
        <p:spPr>
          <a:xfrm>
            <a:off x="3657600" y="2171700"/>
            <a:ext cx="27432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5" name="Google Shape;95;p5"/>
          <p:cNvCxnSpPr/>
          <p:nvPr/>
        </p:nvCxnSpPr>
        <p:spPr>
          <a:xfrm>
            <a:off x="6903720" y="1719072"/>
            <a:ext cx="548640" cy="589788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6" name="Google Shape;96;p5"/>
          <p:cNvCxnSpPr/>
          <p:nvPr/>
        </p:nvCxnSpPr>
        <p:spPr>
          <a:xfrm flipH="1" rot="10800000">
            <a:off x="6903720" y="2308860"/>
            <a:ext cx="548640" cy="11430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7" name="Google Shape;97;p5"/>
          <p:cNvCxnSpPr/>
          <p:nvPr/>
        </p:nvCxnSpPr>
        <p:spPr>
          <a:xfrm flipH="1" rot="10800000">
            <a:off x="6903720" y="2308860"/>
            <a:ext cx="548640" cy="818388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8" name="Google Shape;98;p5"/>
          <p:cNvCxnSpPr/>
          <p:nvPr/>
        </p:nvCxnSpPr>
        <p:spPr>
          <a:xfrm flipH="1" rot="10800000">
            <a:off x="9509760" y="1851660"/>
            <a:ext cx="548640" cy="45720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9" name="Google Shape;99;p5"/>
          <p:cNvCxnSpPr/>
          <p:nvPr/>
        </p:nvCxnSpPr>
        <p:spPr>
          <a:xfrm>
            <a:off x="9509760" y="2308860"/>
            <a:ext cx="548640" cy="64008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0" name="Google Shape;100;p5"/>
          <p:cNvCxnSpPr/>
          <p:nvPr/>
        </p:nvCxnSpPr>
        <p:spPr>
          <a:xfrm>
            <a:off x="2697480" y="5052060"/>
            <a:ext cx="45720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1" name="Google Shape;101;p5"/>
          <p:cNvCxnSpPr/>
          <p:nvPr/>
        </p:nvCxnSpPr>
        <p:spPr>
          <a:xfrm>
            <a:off x="4754880" y="5052060"/>
            <a:ext cx="50292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2" name="Google Shape;102;p5"/>
          <p:cNvCxnSpPr/>
          <p:nvPr/>
        </p:nvCxnSpPr>
        <p:spPr>
          <a:xfrm>
            <a:off x="6766560" y="5052060"/>
            <a:ext cx="50292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3" name="Google Shape;103;p5"/>
          <p:cNvCxnSpPr/>
          <p:nvPr/>
        </p:nvCxnSpPr>
        <p:spPr>
          <a:xfrm flipH="1" rot="10800000">
            <a:off x="9144000" y="5033772"/>
            <a:ext cx="685800" cy="18288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4" name="Google Shape;104;p5"/>
          <p:cNvCxnSpPr/>
          <p:nvPr/>
        </p:nvCxnSpPr>
        <p:spPr>
          <a:xfrm>
            <a:off x="10927080" y="5033772"/>
            <a:ext cx="731520" cy="18288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5" name="Google Shape;105;p5"/>
          <p:cNvCxnSpPr/>
          <p:nvPr/>
        </p:nvCxnSpPr>
        <p:spPr>
          <a:xfrm>
            <a:off x="13670280" y="5052060"/>
            <a:ext cx="54864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6" name="Google Shape;106;p5"/>
          <p:cNvCxnSpPr/>
          <p:nvPr/>
        </p:nvCxnSpPr>
        <p:spPr>
          <a:xfrm>
            <a:off x="3337560" y="7635240"/>
            <a:ext cx="50292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7" name="Google Shape;107;p5"/>
          <p:cNvCxnSpPr/>
          <p:nvPr/>
        </p:nvCxnSpPr>
        <p:spPr>
          <a:xfrm>
            <a:off x="5989320" y="7635240"/>
            <a:ext cx="594360" cy="4572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8" name="Google Shape;108;p5"/>
          <p:cNvCxnSpPr/>
          <p:nvPr/>
        </p:nvCxnSpPr>
        <p:spPr>
          <a:xfrm flipH="1" rot="10800000">
            <a:off x="7863840" y="7635240"/>
            <a:ext cx="548640" cy="4572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9" name="Google Shape;109;p5"/>
          <p:cNvCxnSpPr/>
          <p:nvPr/>
        </p:nvCxnSpPr>
        <p:spPr>
          <a:xfrm flipH="1" rot="10800000">
            <a:off x="7863840" y="7635240"/>
            <a:ext cx="3108960" cy="4572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0" name="Google Shape;110;p5"/>
          <p:cNvCxnSpPr/>
          <p:nvPr/>
        </p:nvCxnSpPr>
        <p:spPr>
          <a:xfrm>
            <a:off x="13213080" y="7635240"/>
            <a:ext cx="50292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1" name="Google Shape;111;p5"/>
          <p:cNvCxnSpPr/>
          <p:nvPr/>
        </p:nvCxnSpPr>
        <p:spPr>
          <a:xfrm>
            <a:off x="10469880" y="7635240"/>
            <a:ext cx="324612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2" name="Google Shape;112;p5"/>
          <p:cNvCxnSpPr/>
          <p:nvPr/>
        </p:nvCxnSpPr>
        <p:spPr>
          <a:xfrm flipH="1" rot="10800000">
            <a:off x="4434840" y="1719072"/>
            <a:ext cx="1051560" cy="475488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3" name="Google Shape;113;p5"/>
          <p:cNvCxnSpPr/>
          <p:nvPr/>
        </p:nvCxnSpPr>
        <p:spPr>
          <a:xfrm>
            <a:off x="4434840" y="2194560"/>
            <a:ext cx="1051560" cy="22860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4" name="Google Shape;114;p5"/>
          <p:cNvCxnSpPr/>
          <p:nvPr/>
        </p:nvCxnSpPr>
        <p:spPr>
          <a:xfrm>
            <a:off x="4434840" y="2194560"/>
            <a:ext cx="1051560" cy="932688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5" name="Google Shape;115;p5"/>
          <p:cNvCxnSpPr/>
          <p:nvPr/>
        </p:nvCxnSpPr>
        <p:spPr>
          <a:xfrm>
            <a:off x="8138160" y="2651760"/>
            <a:ext cx="0" cy="205740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6" name="Google Shape;116;p5"/>
          <p:cNvCxnSpPr/>
          <p:nvPr/>
        </p:nvCxnSpPr>
        <p:spPr>
          <a:xfrm>
            <a:off x="8138160" y="5394960"/>
            <a:ext cx="0" cy="187452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7" name="Google Shape;117;p5"/>
          <p:cNvCxnSpPr/>
          <p:nvPr/>
        </p:nvCxnSpPr>
        <p:spPr>
          <a:xfrm>
            <a:off x="11612880" y="5074920"/>
            <a:ext cx="274320" cy="219456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8" name="Google Shape;118;p5"/>
          <p:cNvSpPr/>
          <p:nvPr/>
        </p:nvSpPr>
        <p:spPr>
          <a:xfrm>
            <a:off x="868680" y="1874520"/>
            <a:ext cx="1143000" cy="594360"/>
          </a:xfrm>
          <a:prstGeom prst="roundRect">
            <a:avLst>
              <a:gd fmla="val 12308" name="adj"/>
            </a:avLst>
          </a:prstGeom>
          <a:solidFill>
            <a:srgbClr val="FCE7F3"/>
          </a:solidFill>
          <a:ln cap="flat" cmpd="sng" w="15225">
            <a:solidFill>
              <a:srgbClr val="DB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Install / open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TinyTums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2240280" y="1874520"/>
            <a:ext cx="1417320" cy="594360"/>
          </a:xfrm>
          <a:prstGeom prst="roundRect">
            <a:avLst>
              <a:gd fmla="val 12308" name="adj"/>
            </a:avLst>
          </a:prstGeom>
          <a:solidFill>
            <a:srgbClr val="FCE7F3"/>
          </a:solidFill>
          <a:ln cap="flat" cmpd="sng" w="15225">
            <a:solidFill>
              <a:srgbClr val="DB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Create account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identity basics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3931920" y="1783080"/>
            <a:ext cx="1005840" cy="777240"/>
          </a:xfrm>
          <a:prstGeom prst="diamond">
            <a:avLst/>
          </a:prstGeom>
          <a:solidFill>
            <a:srgbClr val="FEF3C7"/>
          </a:solidFill>
          <a:ln cap="flat" cmpd="sng" w="152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Current state?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5486400" y="1444752"/>
            <a:ext cx="1417320" cy="548640"/>
          </a:xfrm>
          <a:prstGeom prst="roundRect">
            <a:avLst>
              <a:gd fmla="val 13333" name="adj"/>
            </a:avLst>
          </a:prstGeom>
          <a:solidFill>
            <a:srgbClr val="FCE7F3"/>
          </a:solidFill>
          <a:ln cap="flat" cmpd="sng" w="15225">
            <a:solidFill>
              <a:srgbClr val="DB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Trying to conceive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preconception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5486400" y="2148840"/>
            <a:ext cx="1417320" cy="548640"/>
          </a:xfrm>
          <a:prstGeom prst="roundRect">
            <a:avLst>
              <a:gd fmla="val 13333" name="adj"/>
            </a:avLst>
          </a:prstGeom>
          <a:solidFill>
            <a:srgbClr val="FCE7F3"/>
          </a:solidFill>
          <a:ln cap="flat" cmpd="sng" w="15225">
            <a:solidFill>
              <a:srgbClr val="DB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Active pregnancy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LMP/EDD/GA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5486400" y="2852928"/>
            <a:ext cx="1417320" cy="548640"/>
          </a:xfrm>
          <a:prstGeom prst="roundRect">
            <a:avLst>
              <a:gd fmla="val 13333" name="adj"/>
            </a:avLst>
          </a:prstGeom>
          <a:solidFill>
            <a:srgbClr val="FCE7F3"/>
          </a:solidFill>
          <a:ln cap="flat" cmpd="sng" w="15225">
            <a:solidFill>
              <a:srgbClr val="DB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Existing child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0–7 years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7452360" y="1965960"/>
            <a:ext cx="2057400" cy="685800"/>
          </a:xfrm>
          <a:prstGeom prst="roundRect">
            <a:avLst>
              <a:gd fmla="val 10667" name="adj"/>
            </a:avLst>
          </a:prstGeom>
          <a:solidFill>
            <a:srgbClr val="FCE7F3"/>
          </a:solidFill>
          <a:ln cap="flat" cmpd="sng" w="15225">
            <a:solidFill>
              <a:srgbClr val="DB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Unified mother dashboard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health + pregnancy + child cards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10058400" y="1508760"/>
            <a:ext cx="1783080" cy="685800"/>
          </a:xfrm>
          <a:prstGeom prst="roundRect">
            <a:avLst>
              <a:gd fmla="val 10667" name="adj"/>
            </a:avLst>
          </a:prstGeom>
          <a:solidFill>
            <a:srgbClr val="F1F5F9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Enter / upload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measurements, symptoms, reports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10058400" y="2606040"/>
            <a:ext cx="1783080" cy="685800"/>
          </a:xfrm>
          <a:prstGeom prst="roundRect">
            <a:avLst>
              <a:gd fmla="val 10667" name="adj"/>
            </a:avLst>
          </a:prstGeom>
          <a:solidFill>
            <a:srgbClr val="F1F5F9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Tasks, reminders,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vaccines, milestones, activities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868680" y="4709160"/>
            <a:ext cx="1828800" cy="685800"/>
          </a:xfrm>
          <a:prstGeom prst="roundRect">
            <a:avLst>
              <a:gd fmla="val 10667" name="adj"/>
            </a:avLst>
          </a:prstGeom>
          <a:solidFill>
            <a:srgbClr val="CFFAFE"/>
          </a:solidFill>
          <a:ln cap="flat" cmpd="sng" w="152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Find / invite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primary OBGY or professionals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3154680" y="4709160"/>
            <a:ext cx="1600200" cy="685800"/>
          </a:xfrm>
          <a:prstGeom prst="roundRect">
            <a:avLst>
              <a:gd fmla="val 10667" name="adj"/>
            </a:avLst>
          </a:prstGeom>
          <a:solidFill>
            <a:srgbClr val="EDE9FE"/>
          </a:solidFill>
          <a:ln cap="flat" cmpd="sng" w="152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Choose sharing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sections + consent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5257800" y="4709160"/>
            <a:ext cx="1508760" cy="685800"/>
          </a:xfrm>
          <a:prstGeom prst="roundRect">
            <a:avLst>
              <a:gd fmla="val 10667" name="adj"/>
            </a:avLst>
          </a:prstGeom>
          <a:solidFill>
            <a:srgbClr val="CFFAFE"/>
          </a:solidFill>
          <a:ln cap="flat" cmpd="sng" w="152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Book visit /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teleconsult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7269480" y="4709160"/>
            <a:ext cx="1874520" cy="685800"/>
          </a:xfrm>
          <a:prstGeom prst="roundRect">
            <a:avLst>
              <a:gd fmla="val 10667" name="adj"/>
            </a:avLst>
          </a:prstGeom>
          <a:solidFill>
            <a:srgbClr val="DBEAFE"/>
          </a:solidFill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Clinician review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verify / note / prescribe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9829800" y="4599432"/>
            <a:ext cx="1097280" cy="868680"/>
          </a:xfrm>
          <a:prstGeom prst="diamond">
            <a:avLst/>
          </a:prstGeom>
          <a:solidFill>
            <a:srgbClr val="FEF3C7"/>
          </a:solidFill>
          <a:ln cap="flat" cmpd="sng" w="152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Admission needed?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11658600" y="4709160"/>
            <a:ext cx="2011680" cy="685800"/>
          </a:xfrm>
          <a:prstGeom prst="roundRect">
            <a:avLst>
              <a:gd fmla="val 10667" name="adj"/>
            </a:avLst>
          </a:prstGeom>
          <a:solidFill>
            <a:srgbClr val="DCFCE7"/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Admission care episode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role-based hospital team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14218920" y="4709160"/>
            <a:ext cx="1828800" cy="685800"/>
          </a:xfrm>
          <a:prstGeom prst="roundRect">
            <a:avLst>
              <a:gd fmla="val 10667" name="adj"/>
            </a:avLst>
          </a:prstGeom>
          <a:solidFill>
            <a:srgbClr val="FCE7F3"/>
          </a:solidFill>
          <a:ln cap="flat" cmpd="sng" w="15225">
            <a:solidFill>
              <a:srgbClr val="DB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Invite caregiver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read-only selected view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1143000" y="7269480"/>
            <a:ext cx="2194560" cy="731520"/>
          </a:xfrm>
          <a:prstGeom prst="roundRect">
            <a:avLst>
              <a:gd fmla="val 10000" name="adj"/>
            </a:avLst>
          </a:prstGeom>
          <a:solidFill>
            <a:srgbClr val="F1F5F9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Maternal master profile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persists beyond pregnancy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3840480" y="7269480"/>
            <a:ext cx="2148840" cy="731520"/>
          </a:xfrm>
          <a:prstGeom prst="roundRect">
            <a:avLst>
              <a:gd fmla="val 10000" name="adj"/>
            </a:avLst>
          </a:prstGeom>
          <a:solidFill>
            <a:srgbClr val="F1F5F9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Pregnancy episode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including sensitive outcomes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6583680" y="7251192"/>
            <a:ext cx="1280160" cy="777240"/>
          </a:xfrm>
          <a:prstGeom prst="diamond">
            <a:avLst/>
          </a:prstGeom>
          <a:solidFill>
            <a:srgbClr val="FEF3C7"/>
          </a:solidFill>
          <a:ln cap="flat" cmpd="sng" w="152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Delivery transition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8412480" y="7269480"/>
            <a:ext cx="2057400" cy="731520"/>
          </a:xfrm>
          <a:prstGeom prst="roundRect">
            <a:avLst>
              <a:gd fmla="val 10000" name="adj"/>
            </a:avLst>
          </a:prstGeom>
          <a:solidFill>
            <a:srgbClr val="FCE7F3"/>
          </a:solidFill>
          <a:ln cap="flat" cmpd="sng" w="15225">
            <a:solidFill>
              <a:srgbClr val="DB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Postpartum / ongoing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maternal health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10972800" y="7269480"/>
            <a:ext cx="2240280" cy="731520"/>
          </a:xfrm>
          <a:prstGeom prst="roundRect">
            <a:avLst>
              <a:gd fmla="val 10000" name="adj"/>
            </a:avLst>
          </a:prstGeom>
          <a:solidFill>
            <a:srgbClr val="FCE7F3"/>
          </a:solidFill>
          <a:ln cap="flat" cmpd="sng" w="15225">
            <a:solidFill>
              <a:srgbClr val="DB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Child profile(s)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growth + vaccine + milestones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13716000" y="7269480"/>
            <a:ext cx="2377440" cy="731520"/>
          </a:xfrm>
          <a:prstGeom prst="roundRect">
            <a:avLst>
              <a:gd fmla="val 10000" name="adj"/>
            </a:avLst>
          </a:prstGeom>
          <a:solidFill>
            <a:srgbClr val="F1F5F9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Generated factual summary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links back to source data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5486400" y="8732520"/>
            <a:ext cx="3931920" cy="594360"/>
          </a:xfrm>
          <a:prstGeom prst="roundRect">
            <a:avLst>
              <a:gd fmla="val 12308" name="adj"/>
            </a:avLst>
          </a:prstGeom>
          <a:solidFill>
            <a:srgbClr val="FEE2E2"/>
          </a:solidFill>
          <a:ln cap="flat" cmpd="sng" w="152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V1 safety boundary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No auto-diagnosis/triage/treatment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868680" y="8595360"/>
            <a:ext cx="3931920" cy="731520"/>
          </a:xfrm>
          <a:prstGeom prst="roundRect">
            <a:avLst>
              <a:gd fmla="val 10000" name="adj"/>
            </a:avLst>
          </a:prstGeom>
          <a:solidFill>
            <a:srgbClr val="FCE7F3"/>
          </a:solidFill>
          <a:ln cap="flat" cmpd="sng" w="15225">
            <a:solidFill>
              <a:srgbClr val="DB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All alternate states must coexist: pregnant + existing child, multiple children, multiple pregnancy, pregnancy loss, postpartum and future pregnancy planning.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502920" y="9930384"/>
            <a:ext cx="17282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Tinytums V1 — engineering diagram canvas | rounded = workflow action | diamond = decision | cylinder = stored data | dashed = data/access relation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D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BFD"/>
          </a:solidFill>
          <a:ln cap="flat" cmpd="sng" w="12700">
            <a:solidFill>
              <a:srgbClr val="FAFBF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384048" y="320040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1143000" y="201168"/>
            <a:ext cx="1243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Family Caregiver Workflow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1005840" y="713232"/>
            <a:ext cx="1627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Caregiver is not a clinical user; caregiver access is mother-approved, selected, read-only, and revocable.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" name="Google Shape;152;p6"/>
          <p:cNvCxnSpPr/>
          <p:nvPr/>
        </p:nvCxnSpPr>
        <p:spPr>
          <a:xfrm>
            <a:off x="502920" y="1124712"/>
            <a:ext cx="17282160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6"/>
          <p:cNvSpPr/>
          <p:nvPr/>
        </p:nvSpPr>
        <p:spPr>
          <a:xfrm>
            <a:off x="502920" y="1417320"/>
            <a:ext cx="17282160" cy="2743200"/>
          </a:xfrm>
          <a:prstGeom prst="roundRect">
            <a:avLst>
              <a:gd fmla="val 4000" name="adj"/>
            </a:avLst>
          </a:prstGeom>
          <a:solidFill>
            <a:srgbClr val="FCE7F3">
              <a:alpha val="90196"/>
            </a:srgbClr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640080" y="148132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Mother controls sharing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502920" y="4434840"/>
            <a:ext cx="17282160" cy="1828800"/>
          </a:xfrm>
          <a:prstGeom prst="roundRect">
            <a:avLst>
              <a:gd fmla="val 6000" name="adj"/>
            </a:avLst>
          </a:prstGeom>
          <a:solidFill>
            <a:srgbClr val="FCE7F3">
              <a:alpha val="90196"/>
            </a:srgbClr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640080" y="449884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Caregiver device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502920" y="6537960"/>
            <a:ext cx="17282160" cy="2514600"/>
          </a:xfrm>
          <a:prstGeom prst="roundRect">
            <a:avLst>
              <a:gd fmla="val 4364" name="adj"/>
            </a:avLst>
          </a:prstGeom>
          <a:solidFill>
            <a:srgbClr val="EDE9FE">
              <a:alpha val="90196"/>
            </a:srgbClr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640080" y="660196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Permission engine + audit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" name="Google Shape;159;p6"/>
          <p:cNvCxnSpPr/>
          <p:nvPr/>
        </p:nvCxnSpPr>
        <p:spPr>
          <a:xfrm>
            <a:off x="2743200" y="2171700"/>
            <a:ext cx="45720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0" name="Google Shape;160;p6"/>
          <p:cNvCxnSpPr/>
          <p:nvPr/>
        </p:nvCxnSpPr>
        <p:spPr>
          <a:xfrm>
            <a:off x="4846320" y="2171700"/>
            <a:ext cx="41148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1" name="Google Shape;161;p6"/>
          <p:cNvCxnSpPr/>
          <p:nvPr/>
        </p:nvCxnSpPr>
        <p:spPr>
          <a:xfrm>
            <a:off x="7406640" y="2171700"/>
            <a:ext cx="50292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2" name="Google Shape;162;p6"/>
          <p:cNvCxnSpPr/>
          <p:nvPr/>
        </p:nvCxnSpPr>
        <p:spPr>
          <a:xfrm>
            <a:off x="9052560" y="2171700"/>
            <a:ext cx="777240" cy="2286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3" name="Google Shape;163;p6"/>
          <p:cNvCxnSpPr/>
          <p:nvPr/>
        </p:nvCxnSpPr>
        <p:spPr>
          <a:xfrm flipH="1" rot="10800000">
            <a:off x="10835640" y="2171700"/>
            <a:ext cx="731520" cy="2286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4" name="Google Shape;164;p6"/>
          <p:cNvCxnSpPr/>
          <p:nvPr/>
        </p:nvCxnSpPr>
        <p:spPr>
          <a:xfrm>
            <a:off x="13258800" y="2171700"/>
            <a:ext cx="54864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5" name="Google Shape;165;p6"/>
          <p:cNvCxnSpPr/>
          <p:nvPr/>
        </p:nvCxnSpPr>
        <p:spPr>
          <a:xfrm>
            <a:off x="3246120" y="5189220"/>
            <a:ext cx="73152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6" name="Google Shape;166;p6"/>
          <p:cNvCxnSpPr/>
          <p:nvPr/>
        </p:nvCxnSpPr>
        <p:spPr>
          <a:xfrm>
            <a:off x="5669280" y="5189220"/>
            <a:ext cx="73152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7" name="Google Shape;167;p6"/>
          <p:cNvCxnSpPr/>
          <p:nvPr/>
        </p:nvCxnSpPr>
        <p:spPr>
          <a:xfrm>
            <a:off x="9052560" y="5189220"/>
            <a:ext cx="96012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8" name="Google Shape;168;p6"/>
          <p:cNvCxnSpPr/>
          <p:nvPr/>
        </p:nvCxnSpPr>
        <p:spPr>
          <a:xfrm rot="10800000">
            <a:off x="6400800" y="5189220"/>
            <a:ext cx="864108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9" name="Google Shape;169;p6"/>
          <p:cNvCxnSpPr/>
          <p:nvPr/>
        </p:nvCxnSpPr>
        <p:spPr>
          <a:xfrm flipH="1">
            <a:off x="13075920" y="2171700"/>
            <a:ext cx="2880360" cy="301752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0" name="Google Shape;170;p6"/>
          <p:cNvCxnSpPr/>
          <p:nvPr/>
        </p:nvCxnSpPr>
        <p:spPr>
          <a:xfrm>
            <a:off x="10332720" y="2606040"/>
            <a:ext cx="0" cy="45720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1" name="Google Shape;171;p6"/>
          <p:cNvCxnSpPr/>
          <p:nvPr/>
        </p:nvCxnSpPr>
        <p:spPr>
          <a:xfrm>
            <a:off x="7726680" y="5577840"/>
            <a:ext cx="2331720" cy="475488"/>
          </a:xfrm>
          <a:prstGeom prst="straightConnector1">
            <a:avLst/>
          </a:prstGeom>
          <a:noFill/>
          <a:ln cap="flat" cmpd="sng" w="13950">
            <a:solidFill>
              <a:srgbClr val="DC262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2" name="Google Shape;172;p6"/>
          <p:cNvCxnSpPr/>
          <p:nvPr/>
        </p:nvCxnSpPr>
        <p:spPr>
          <a:xfrm>
            <a:off x="7726680" y="5577840"/>
            <a:ext cx="228600" cy="178308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3" name="Google Shape;173;p6"/>
          <p:cNvCxnSpPr/>
          <p:nvPr/>
        </p:nvCxnSpPr>
        <p:spPr>
          <a:xfrm>
            <a:off x="11430000" y="6108192"/>
            <a:ext cx="1463040" cy="0"/>
          </a:xfrm>
          <a:prstGeom prst="straightConnector1">
            <a:avLst/>
          </a:prstGeom>
          <a:noFill/>
          <a:ln cap="flat" cmpd="sng" w="13950">
            <a:solidFill>
              <a:srgbClr val="DC262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4" name="Google Shape;174;p6"/>
          <p:cNvCxnSpPr/>
          <p:nvPr/>
        </p:nvCxnSpPr>
        <p:spPr>
          <a:xfrm>
            <a:off x="14630400" y="5486400"/>
            <a:ext cx="0" cy="320040"/>
          </a:xfrm>
          <a:prstGeom prst="straightConnector1">
            <a:avLst/>
          </a:prstGeom>
          <a:noFill/>
          <a:ln cap="flat" cmpd="sng" w="13950">
            <a:solidFill>
              <a:srgbClr val="DC262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5" name="Google Shape;175;p6"/>
          <p:cNvSpPr/>
          <p:nvPr/>
        </p:nvSpPr>
        <p:spPr>
          <a:xfrm>
            <a:off x="914400" y="1828800"/>
            <a:ext cx="1828800" cy="685800"/>
          </a:xfrm>
          <a:prstGeom prst="roundRect">
            <a:avLst>
              <a:gd fmla="val 10667" name="adj"/>
            </a:avLst>
          </a:prstGeom>
          <a:solidFill>
            <a:srgbClr val="FCE7F3"/>
          </a:solidFill>
          <a:ln cap="flat" cmpd="sng" w="15225">
            <a:solidFill>
              <a:srgbClr val="DB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Mother opens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Caregiver Sharing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3200400" y="1828800"/>
            <a:ext cx="1645920" cy="685800"/>
          </a:xfrm>
          <a:prstGeom prst="roundRect">
            <a:avLst>
              <a:gd fmla="val 10667" name="adj"/>
            </a:avLst>
          </a:prstGeom>
          <a:solidFill>
            <a:srgbClr val="FCE7F3"/>
          </a:solidFill>
          <a:ln cap="flat" cmpd="sng" w="15225">
            <a:solidFill>
              <a:srgbClr val="DB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Select caregiver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phone/email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5257800" y="1828800"/>
            <a:ext cx="2148840" cy="685800"/>
          </a:xfrm>
          <a:prstGeom prst="roundRect">
            <a:avLst>
              <a:gd fmla="val 10667" name="adj"/>
            </a:avLst>
          </a:prstGeom>
          <a:solidFill>
            <a:srgbClr val="EDE9FE"/>
          </a:solidFill>
          <a:ln cap="flat" cmpd="sng" w="152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Choose sections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Maternal / pregnancy / child / reports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7909560" y="1874520"/>
            <a:ext cx="1143000" cy="594360"/>
          </a:xfrm>
          <a:prstGeom prst="roundRect">
            <a:avLst>
              <a:gd fmla="val 12308" name="adj"/>
            </a:avLst>
          </a:prstGeom>
          <a:solidFill>
            <a:srgbClr val="CFFAFE"/>
          </a:solidFill>
          <a:ln cap="flat" cmpd="sng" w="152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Invite sent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9829800" y="1783080"/>
            <a:ext cx="1005840" cy="822960"/>
          </a:xfrm>
          <a:prstGeom prst="diamond">
            <a:avLst/>
          </a:prstGeom>
          <a:solidFill>
            <a:srgbClr val="FEF3C7"/>
          </a:solidFill>
          <a:ln cap="flat" cmpd="sng" w="152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Accepted?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11567160" y="1828800"/>
            <a:ext cx="1691640" cy="685800"/>
          </a:xfrm>
          <a:prstGeom prst="roundRect">
            <a:avLst>
              <a:gd fmla="val 10667" name="adj"/>
            </a:avLst>
          </a:prstGeom>
          <a:solidFill>
            <a:srgbClr val="FCE7F3"/>
          </a:solidFill>
          <a:ln cap="flat" cmpd="sng" w="15225">
            <a:solidFill>
              <a:srgbClr val="DB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Caregiver account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linked to mother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13807440" y="1828800"/>
            <a:ext cx="2148840" cy="685800"/>
          </a:xfrm>
          <a:prstGeom prst="roundRect">
            <a:avLst>
              <a:gd fmla="val 10667" name="adj"/>
            </a:avLst>
          </a:prstGeom>
          <a:solidFill>
            <a:srgbClr val="FCE7F3"/>
          </a:solidFill>
          <a:ln cap="flat" cmpd="sng" w="15225">
            <a:solidFill>
              <a:srgbClr val="DB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Read-only selected view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No health-record edits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9189720" y="3063240"/>
            <a:ext cx="2057400" cy="594360"/>
          </a:xfrm>
          <a:prstGeom prst="roundRect">
            <a:avLst>
              <a:gd fmla="val 12308" name="adj"/>
            </a:avLst>
          </a:prstGeom>
          <a:solidFill>
            <a:srgbClr val="F1F5F9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Not accepted / expired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resend or cancel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1828800" y="4892040"/>
            <a:ext cx="1417320" cy="594360"/>
          </a:xfrm>
          <a:prstGeom prst="roundRect">
            <a:avLst>
              <a:gd fmla="val 12308" name="adj"/>
            </a:avLst>
          </a:prstGeom>
          <a:solidFill>
            <a:srgbClr val="FCE7F3"/>
          </a:solidFill>
          <a:ln cap="flat" cmpd="sng" w="15225">
            <a:solidFill>
              <a:srgbClr val="DB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Caregiver login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3977640" y="4892040"/>
            <a:ext cx="1691640" cy="594360"/>
          </a:xfrm>
          <a:prstGeom prst="roundRect">
            <a:avLst>
              <a:gd fmla="val 12308" name="adj"/>
            </a:avLst>
          </a:prstGeom>
          <a:solidFill>
            <a:srgbClr val="FCE7F3"/>
          </a:solidFill>
          <a:ln cap="flat" cmpd="sng" w="15225">
            <a:solidFill>
              <a:srgbClr val="DB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Requests record / section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6400800" y="4800600"/>
            <a:ext cx="2651760" cy="777240"/>
          </a:xfrm>
          <a:prstGeom prst="roundRect">
            <a:avLst>
              <a:gd fmla="val 9412" name="adj"/>
            </a:avLst>
          </a:prstGeom>
          <a:solidFill>
            <a:srgbClr val="EDE9FE"/>
          </a:solidFill>
          <a:ln cap="flat" cmpd="sng" w="152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Permission evaluation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role=caregiver + scope + active consent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10012680" y="4892040"/>
            <a:ext cx="1417320" cy="594360"/>
          </a:xfrm>
          <a:prstGeom prst="roundRect">
            <a:avLst>
              <a:gd fmla="val 12308" name="adj"/>
            </a:avLst>
          </a:prstGeom>
          <a:solidFill>
            <a:srgbClr val="DCFCE7"/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ALLOW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show selected data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10012680" y="5760720"/>
            <a:ext cx="1417320" cy="594360"/>
          </a:xfrm>
          <a:prstGeom prst="roundRect">
            <a:avLst>
              <a:gd fmla="val 12308" name="adj"/>
            </a:avLst>
          </a:prstGeom>
          <a:solidFill>
            <a:srgbClr val="FEE2E2"/>
          </a:solidFill>
          <a:ln cap="flat" cmpd="sng" w="152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DENY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restricted / revoked / expired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13075920" y="4892040"/>
            <a:ext cx="1965960" cy="594360"/>
          </a:xfrm>
          <a:prstGeom prst="roundRect">
            <a:avLst>
              <a:gd fmla="val 12308" name="adj"/>
            </a:avLst>
          </a:prstGeom>
          <a:solidFill>
            <a:srgbClr val="FCE7F3"/>
          </a:solidFill>
          <a:ln cap="flat" cmpd="sng" w="15225">
            <a:solidFill>
              <a:srgbClr val="DB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Mother changes scope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or revokes access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6766560" y="7360920"/>
            <a:ext cx="2377440" cy="685800"/>
          </a:xfrm>
          <a:prstGeom prst="roundRect">
            <a:avLst>
              <a:gd fmla="val 10667" name="adj"/>
            </a:avLst>
          </a:prstGeom>
          <a:solidFill>
            <a:srgbClr val="F1F5F9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30"/>
              <a:buFont typeface="Arial"/>
              <a:buNone/>
            </a:pPr>
            <a:r>
              <a:rPr b="0" i="0" lang="en-US" sz="83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Audit event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30"/>
              <a:buFont typeface="Arial"/>
              <a:buNone/>
            </a:pPr>
            <a:r>
              <a:rPr b="0" i="0" lang="en-US" sz="83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invited / viewed / scope changed / revoked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12893040" y="5806440"/>
            <a:ext cx="2148840" cy="594360"/>
          </a:xfrm>
          <a:prstGeom prst="roundRect">
            <a:avLst>
              <a:gd fmla="val 12308" name="adj"/>
            </a:avLst>
          </a:prstGeom>
          <a:solidFill>
            <a:srgbClr val="FEE2E2"/>
          </a:solidFill>
          <a:ln cap="flat" cmpd="sng" w="152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Attempt edit / enter record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→ always denied in V1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502920" y="9930384"/>
            <a:ext cx="17282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Tinytums V1 — engineering diagram canvas | rounded = workflow action | diamond = decision | cylinder = stored data | dashed = data/access relation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D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BFD"/>
          </a:solidFill>
          <a:ln cap="flat" cmpd="sng" w="12700">
            <a:solidFill>
              <a:srgbClr val="FAFBF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384048" y="320040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143000" y="201168"/>
            <a:ext cx="1243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Provider Discovery &amp; Appointment Flow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005840" y="713232"/>
            <a:ext cx="1627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Two entry routes converge into one relationship: Doctor X at Institution Y. Search-ranking and final slot logic remain TBD.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1" name="Google Shape;201;p7"/>
          <p:cNvCxnSpPr/>
          <p:nvPr/>
        </p:nvCxnSpPr>
        <p:spPr>
          <a:xfrm>
            <a:off x="502920" y="1124712"/>
            <a:ext cx="17282160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" name="Google Shape;202;p7"/>
          <p:cNvSpPr/>
          <p:nvPr/>
        </p:nvSpPr>
        <p:spPr>
          <a:xfrm>
            <a:off x="502920" y="1417320"/>
            <a:ext cx="17282160" cy="3017520"/>
          </a:xfrm>
          <a:prstGeom prst="roundRect">
            <a:avLst>
              <a:gd fmla="val 3636" name="adj"/>
            </a:avLst>
          </a:prstGeom>
          <a:solidFill>
            <a:srgbClr val="FCE7F3">
              <a:alpha val="90196"/>
            </a:srgbClr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640080" y="148132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Mother discovery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502920" y="4663440"/>
            <a:ext cx="17282160" cy="1645920"/>
          </a:xfrm>
          <a:prstGeom prst="roundRect">
            <a:avLst>
              <a:gd fmla="val 6667" name="adj"/>
            </a:avLst>
          </a:prstGeom>
          <a:solidFill>
            <a:srgbClr val="E2E8F0">
              <a:alpha val="90196"/>
            </a:srgbClr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640080" y="472744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Directory + verification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502920" y="6720840"/>
            <a:ext cx="17282160" cy="2377440"/>
          </a:xfrm>
          <a:prstGeom prst="roundRect">
            <a:avLst>
              <a:gd fmla="val 4615" name="adj"/>
            </a:avLst>
          </a:prstGeom>
          <a:solidFill>
            <a:srgbClr val="CFFAFE">
              <a:alpha val="90196"/>
            </a:srgbClr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640080" y="678484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Appointment lifecycle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8" name="Google Shape;208;p7"/>
          <p:cNvCxnSpPr/>
          <p:nvPr/>
        </p:nvCxnSpPr>
        <p:spPr>
          <a:xfrm flipH="1" rot="10800000">
            <a:off x="2880360" y="2382012"/>
            <a:ext cx="640080" cy="18288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9" name="Google Shape;209;p7"/>
          <p:cNvCxnSpPr/>
          <p:nvPr/>
        </p:nvCxnSpPr>
        <p:spPr>
          <a:xfrm>
            <a:off x="6903720" y="1988820"/>
            <a:ext cx="64008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0" name="Google Shape;210;p7"/>
          <p:cNvCxnSpPr/>
          <p:nvPr/>
        </p:nvCxnSpPr>
        <p:spPr>
          <a:xfrm>
            <a:off x="6903720" y="3086100"/>
            <a:ext cx="64008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1" name="Google Shape;211;p7"/>
          <p:cNvCxnSpPr/>
          <p:nvPr/>
        </p:nvCxnSpPr>
        <p:spPr>
          <a:xfrm>
            <a:off x="9555480" y="1988820"/>
            <a:ext cx="731520" cy="59436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2" name="Google Shape;212;p7"/>
          <p:cNvCxnSpPr/>
          <p:nvPr/>
        </p:nvCxnSpPr>
        <p:spPr>
          <a:xfrm flipH="1" rot="10800000">
            <a:off x="9555480" y="2583180"/>
            <a:ext cx="731520" cy="50292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3" name="Google Shape;213;p7"/>
          <p:cNvCxnSpPr/>
          <p:nvPr/>
        </p:nvCxnSpPr>
        <p:spPr>
          <a:xfrm>
            <a:off x="12573000" y="2583180"/>
            <a:ext cx="594360" cy="4572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4" name="Google Shape;214;p7"/>
          <p:cNvCxnSpPr/>
          <p:nvPr/>
        </p:nvCxnSpPr>
        <p:spPr>
          <a:xfrm flipH="1" rot="10800000">
            <a:off x="14447520" y="1988820"/>
            <a:ext cx="640080" cy="64008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5" name="Google Shape;215;p7"/>
          <p:cNvCxnSpPr/>
          <p:nvPr/>
        </p:nvCxnSpPr>
        <p:spPr>
          <a:xfrm>
            <a:off x="14447520" y="2628900"/>
            <a:ext cx="640080" cy="45720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6" name="Google Shape;216;p7"/>
          <p:cNvCxnSpPr/>
          <p:nvPr/>
        </p:nvCxnSpPr>
        <p:spPr>
          <a:xfrm flipH="1" rot="10800000">
            <a:off x="2286000" y="5554980"/>
            <a:ext cx="685800" cy="4572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7" name="Google Shape;217;p7"/>
          <p:cNvCxnSpPr/>
          <p:nvPr/>
        </p:nvCxnSpPr>
        <p:spPr>
          <a:xfrm>
            <a:off x="4892040" y="5554980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8" name="Google Shape;218;p7"/>
          <p:cNvCxnSpPr/>
          <p:nvPr/>
        </p:nvCxnSpPr>
        <p:spPr>
          <a:xfrm>
            <a:off x="4754880" y="7635240"/>
            <a:ext cx="59436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9" name="Google Shape;219;p7"/>
          <p:cNvCxnSpPr/>
          <p:nvPr/>
        </p:nvCxnSpPr>
        <p:spPr>
          <a:xfrm>
            <a:off x="7269480" y="7635240"/>
            <a:ext cx="64008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0" name="Google Shape;220;p7"/>
          <p:cNvCxnSpPr/>
          <p:nvPr/>
        </p:nvCxnSpPr>
        <p:spPr>
          <a:xfrm>
            <a:off x="10149840" y="7635240"/>
            <a:ext cx="64008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1" name="Google Shape;221;p7"/>
          <p:cNvCxnSpPr/>
          <p:nvPr/>
        </p:nvCxnSpPr>
        <p:spPr>
          <a:xfrm>
            <a:off x="12755880" y="7635240"/>
            <a:ext cx="64008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2" name="Google Shape;222;p7"/>
          <p:cNvCxnSpPr/>
          <p:nvPr/>
        </p:nvCxnSpPr>
        <p:spPr>
          <a:xfrm flipH="1" rot="10800000">
            <a:off x="4023360" y="1984248"/>
            <a:ext cx="1143000" cy="393192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3" name="Google Shape;223;p7"/>
          <p:cNvCxnSpPr/>
          <p:nvPr/>
        </p:nvCxnSpPr>
        <p:spPr>
          <a:xfrm>
            <a:off x="4023360" y="2377440"/>
            <a:ext cx="1143000" cy="704088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4" name="Google Shape;224;p7"/>
          <p:cNvCxnSpPr/>
          <p:nvPr/>
        </p:nvCxnSpPr>
        <p:spPr>
          <a:xfrm flipH="1">
            <a:off x="3749040" y="2606040"/>
            <a:ext cx="8823960" cy="470916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5" name="Google Shape;225;p7"/>
          <p:cNvCxnSpPr/>
          <p:nvPr/>
        </p:nvCxnSpPr>
        <p:spPr>
          <a:xfrm flipH="1" rot="10800000">
            <a:off x="7909560" y="2606040"/>
            <a:ext cx="2377440" cy="2953512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6" name="Google Shape;226;p7"/>
          <p:cNvCxnSpPr/>
          <p:nvPr/>
        </p:nvCxnSpPr>
        <p:spPr>
          <a:xfrm>
            <a:off x="1691640" y="2743200"/>
            <a:ext cx="0" cy="242316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7" name="Google Shape;227;p7"/>
          <p:cNvSpPr/>
          <p:nvPr/>
        </p:nvSpPr>
        <p:spPr>
          <a:xfrm>
            <a:off x="868680" y="2057400"/>
            <a:ext cx="2011680" cy="685800"/>
          </a:xfrm>
          <a:prstGeom prst="roundRect">
            <a:avLst>
              <a:gd fmla="val 10667" name="adj"/>
            </a:avLst>
          </a:prstGeom>
          <a:solidFill>
            <a:srgbClr val="FCE7F3"/>
          </a:solidFill>
          <a:ln cap="flat" cmpd="sng" w="15225">
            <a:solidFill>
              <a:srgbClr val="DB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Mother needs care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OBGY / pediatrician / allied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3520440" y="1947672"/>
            <a:ext cx="1005840" cy="868680"/>
          </a:xfrm>
          <a:prstGeom prst="diamond">
            <a:avLst/>
          </a:prstGeom>
          <a:solidFill>
            <a:srgbClr val="FEF3C7"/>
          </a:solidFill>
          <a:ln cap="flat" cmpd="sng" w="152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Search by?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5166360" y="1691640"/>
            <a:ext cx="1737360" cy="594360"/>
          </a:xfrm>
          <a:prstGeom prst="roundRect">
            <a:avLst>
              <a:gd fmla="val 12308" name="adj"/>
            </a:avLst>
          </a:prstGeom>
          <a:solidFill>
            <a:srgbClr val="CCFBF1"/>
          </a:solidFill>
          <a:ln cap="flat" cmpd="sng" w="152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Search institution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hospital/clinic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5166360" y="2788920"/>
            <a:ext cx="1737360" cy="594360"/>
          </a:xfrm>
          <a:prstGeom prst="roundRect">
            <a:avLst>
              <a:gd fmla="val 12308" name="adj"/>
            </a:avLst>
          </a:prstGeom>
          <a:solidFill>
            <a:srgbClr val="DBEAFE"/>
          </a:solidFill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Search doctor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name/specialty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7543800" y="1691640"/>
            <a:ext cx="2011680" cy="594360"/>
          </a:xfrm>
          <a:prstGeom prst="roundRect">
            <a:avLst>
              <a:gd fmla="val 12308" name="adj"/>
            </a:avLst>
          </a:prstGeom>
          <a:solidFill>
            <a:srgbClr val="DBEAFE"/>
          </a:solidFill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30"/>
              <a:buFont typeface="Arial"/>
              <a:buNone/>
            </a:pPr>
            <a:r>
              <a:rPr b="0" i="0" lang="en-US" sz="83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Institution page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30"/>
              <a:buFont typeface="Arial"/>
              <a:buNone/>
            </a:pPr>
            <a:r>
              <a:rPr b="0" i="0" lang="en-US" sz="83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select doctor practising there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7543800" y="2788920"/>
            <a:ext cx="2011680" cy="594360"/>
          </a:xfrm>
          <a:prstGeom prst="roundRect">
            <a:avLst>
              <a:gd fmla="val 12308" name="adj"/>
            </a:avLst>
          </a:prstGeom>
          <a:solidFill>
            <a:srgbClr val="CCFBF1"/>
          </a:solidFill>
          <a:ln cap="flat" cmpd="sng" w="152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30"/>
              <a:buFont typeface="Arial"/>
              <a:buNone/>
            </a:pPr>
            <a:r>
              <a:rPr b="0" i="0" lang="en-US" sz="83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Doctor profile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30"/>
              <a:buFont typeface="Arial"/>
              <a:buNone/>
            </a:pPr>
            <a:r>
              <a:rPr b="0" i="0" lang="en-US" sz="83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choose listed institution/location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10287000" y="2240280"/>
            <a:ext cx="2286000" cy="685800"/>
          </a:xfrm>
          <a:prstGeom prst="roundRect">
            <a:avLst>
              <a:gd fmla="val 10667" name="adj"/>
            </a:avLst>
          </a:prstGeom>
          <a:solidFill>
            <a:srgbClr val="EDE9FE"/>
          </a:solidFill>
          <a:ln cap="flat" cmpd="sng" w="152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70"/>
              <a:buFont typeface="Arial"/>
              <a:buNone/>
            </a:pPr>
            <a:r>
              <a:rPr b="1" i="0" lang="en-US" sz="87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Care relationship created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70"/>
              <a:buFont typeface="Arial"/>
              <a:buNone/>
            </a:pPr>
            <a:r>
              <a:rPr b="1" i="0" lang="en-US" sz="87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Doctor X @ Institution Y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13167360" y="2148840"/>
            <a:ext cx="1280160" cy="960120"/>
          </a:xfrm>
          <a:prstGeom prst="diamond">
            <a:avLst/>
          </a:prstGeom>
          <a:solidFill>
            <a:srgbClr val="FEF3C7"/>
          </a:solidFill>
          <a:ln cap="flat" cmpd="sng" w="152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70"/>
              <a:buFont typeface="Arial"/>
              <a:buNone/>
            </a:pPr>
            <a:r>
              <a:rPr b="0" i="0" lang="en-US" sz="77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Subscribing primary OBGY / institution?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15087600" y="1691640"/>
            <a:ext cx="1920240" cy="594360"/>
          </a:xfrm>
          <a:prstGeom prst="roundRect">
            <a:avLst>
              <a:gd fmla="val 12308" name="adj"/>
            </a:avLst>
          </a:prstGeom>
          <a:solidFill>
            <a:srgbClr val="FFEDD5"/>
          </a:solidFill>
          <a:ln cap="flat" cmpd="sng" w="15225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Enhanced access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through clinical relationship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15087600" y="2788920"/>
            <a:ext cx="1920240" cy="594360"/>
          </a:xfrm>
          <a:prstGeom prst="roundRect">
            <a:avLst>
              <a:gd fmla="val 12308" name="adj"/>
            </a:avLst>
          </a:prstGeom>
          <a:solidFill>
            <a:srgbClr val="FFEDD5"/>
          </a:solidFill>
          <a:ln cap="flat" cmpd="sng" w="15225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10"/>
              <a:buFont typeface="Arial"/>
              <a:buNone/>
            </a:pPr>
            <a:r>
              <a:rPr b="0" i="0" lang="en-US" sz="81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Core access only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10"/>
              <a:buFont typeface="Arial"/>
              <a:buNone/>
            </a:pPr>
            <a:r>
              <a:rPr b="0" i="0" lang="en-US" sz="81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selected advanced features may be paid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1097280" y="5166360"/>
            <a:ext cx="1188720" cy="868680"/>
          </a:xfrm>
          <a:prstGeom prst="diamond">
            <a:avLst/>
          </a:prstGeom>
          <a:solidFill>
            <a:srgbClr val="FEF3C7"/>
          </a:solidFill>
          <a:ln cap="flat" cmpd="sng" w="152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Doctor not on Tinytums?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2971800" y="5257800"/>
            <a:ext cx="1920240" cy="594360"/>
          </a:xfrm>
          <a:prstGeom prst="roundRect">
            <a:avLst>
              <a:gd fmla="val 12308" name="adj"/>
            </a:avLst>
          </a:prstGeom>
          <a:solidFill>
            <a:srgbClr val="CFFAFE"/>
          </a:solidFill>
          <a:ln cap="flat" cmpd="sng" w="152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Invite my doctor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patient submits basic info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5577840" y="5257800"/>
            <a:ext cx="2331720" cy="594360"/>
          </a:xfrm>
          <a:prstGeom prst="roundRect">
            <a:avLst>
              <a:gd fmla="val 12308" name="adj"/>
            </a:avLst>
          </a:prstGeom>
          <a:solidFill>
            <a:srgbClr val="CCFBF1"/>
          </a:solidFill>
          <a:ln cap="flat" cmpd="sng" w="152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10"/>
              <a:buFont typeface="Arial"/>
              <a:buNone/>
            </a:pPr>
            <a:r>
              <a:rPr b="0" i="0" lang="en-US" sz="81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Tinytums verifies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10"/>
              <a:buFont typeface="Arial"/>
              <a:buNone/>
            </a:pPr>
            <a:r>
              <a:rPr b="0" i="0" lang="en-US" sz="81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registration/profile before publishing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2743200" y="7315200"/>
            <a:ext cx="2011680" cy="640080"/>
          </a:xfrm>
          <a:prstGeom prst="roundRect">
            <a:avLst>
              <a:gd fmla="val 11429" name="adj"/>
            </a:avLst>
          </a:prstGeom>
          <a:solidFill>
            <a:srgbClr val="CFFAFE"/>
          </a:solidFill>
          <a:ln cap="flat" cmpd="sng" w="152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Choose appointment type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visit / teleconsult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5349240" y="7315200"/>
            <a:ext cx="1920240" cy="640080"/>
          </a:xfrm>
          <a:prstGeom prst="roundRect">
            <a:avLst>
              <a:gd fmla="val 11429" name="adj"/>
            </a:avLst>
          </a:prstGeom>
          <a:solidFill>
            <a:srgbClr val="CFFAFE"/>
          </a:solidFill>
          <a:ln cap="flat" cmpd="sng" w="152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Pick slot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confirm appointment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7909560" y="7315200"/>
            <a:ext cx="2240280" cy="640080"/>
          </a:xfrm>
          <a:prstGeom prst="roundRect">
            <a:avLst>
              <a:gd fmla="val 11429" name="adj"/>
            </a:avLst>
          </a:prstGeom>
          <a:solidFill>
            <a:srgbClr val="F1F5F9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30"/>
              <a:buFont typeface="Arial"/>
              <a:buNone/>
            </a:pPr>
            <a:r>
              <a:rPr b="0" i="0" lang="en-US" sz="83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Pre-visit packet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30"/>
              <a:buFont typeface="Arial"/>
              <a:buNone/>
            </a:pPr>
            <a:r>
              <a:rPr b="0" i="0" lang="en-US" sz="83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complaint + documents + summary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10789920" y="7315200"/>
            <a:ext cx="1965960" cy="640080"/>
          </a:xfrm>
          <a:prstGeom prst="roundRect">
            <a:avLst>
              <a:gd fmla="val 11429" name="adj"/>
            </a:avLst>
          </a:prstGeom>
          <a:solidFill>
            <a:srgbClr val="DBEAFE"/>
          </a:solidFill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Doctor queue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appointment-time order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13395960" y="7315200"/>
            <a:ext cx="2240280" cy="640080"/>
          </a:xfrm>
          <a:prstGeom prst="roundRect">
            <a:avLst>
              <a:gd fmla="val 11429" name="adj"/>
            </a:avLst>
          </a:prstGeom>
          <a:solidFill>
            <a:srgbClr val="DBEAFE"/>
          </a:solidFill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30"/>
              <a:buFont typeface="Arial"/>
              <a:buNone/>
            </a:pPr>
            <a:r>
              <a:rPr b="0" i="0" lang="en-US" sz="83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Consultation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30"/>
              <a:buFont typeface="Arial"/>
              <a:buNone/>
            </a:pPr>
            <a:r>
              <a:rPr b="0" i="0" lang="en-US" sz="83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record / prescription / follow-up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502920" y="9930384"/>
            <a:ext cx="17282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Tinytums V1 — engineering diagram canvas | rounded = workflow action | diamond = decision | cylinder = stored data | dashed = data/access relation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D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BFD"/>
          </a:solidFill>
          <a:ln cap="flat" cmpd="sng" w="12700">
            <a:solidFill>
              <a:srgbClr val="FAFBF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"/>
          <p:cNvSpPr/>
          <p:nvPr/>
        </p:nvSpPr>
        <p:spPr>
          <a:xfrm>
            <a:off x="384048" y="320040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1143000" y="201168"/>
            <a:ext cx="1243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Doctor Workflow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1005840" y="713232"/>
            <a:ext cx="1627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Clinician works through named account and selected institution context; records must remain attributable to individual users.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5" name="Google Shape;255;p8"/>
          <p:cNvCxnSpPr/>
          <p:nvPr/>
        </p:nvCxnSpPr>
        <p:spPr>
          <a:xfrm>
            <a:off x="502920" y="1124712"/>
            <a:ext cx="17282160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8"/>
          <p:cNvSpPr/>
          <p:nvPr/>
        </p:nvSpPr>
        <p:spPr>
          <a:xfrm>
            <a:off x="502920" y="1417320"/>
            <a:ext cx="17282160" cy="2423160"/>
          </a:xfrm>
          <a:prstGeom prst="roundRect">
            <a:avLst>
              <a:gd fmla="val 4528" name="adj"/>
            </a:avLst>
          </a:prstGeom>
          <a:solidFill>
            <a:srgbClr val="DBEAFE">
              <a:alpha val="90196"/>
            </a:srgbClr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640080" y="148132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Doctor dashboard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502920" y="4114800"/>
            <a:ext cx="17282160" cy="2468880"/>
          </a:xfrm>
          <a:prstGeom prst="roundRect">
            <a:avLst>
              <a:gd fmla="val 4444" name="adj"/>
            </a:avLst>
          </a:prstGeom>
          <a:solidFill>
            <a:srgbClr val="DBEAFE">
              <a:alpha val="90196"/>
            </a:srgbClr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640080" y="417880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Clinical encounter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502920" y="6903720"/>
            <a:ext cx="17282160" cy="2194560"/>
          </a:xfrm>
          <a:prstGeom prst="roundRect">
            <a:avLst>
              <a:gd fmla="val 5000" name="adj"/>
            </a:avLst>
          </a:prstGeom>
          <a:solidFill>
            <a:srgbClr val="F1F5F9">
              <a:alpha val="90196"/>
            </a:srgbClr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640080" y="696772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After encounter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2" name="Google Shape;262;p8"/>
          <p:cNvCxnSpPr/>
          <p:nvPr/>
        </p:nvCxnSpPr>
        <p:spPr>
          <a:xfrm>
            <a:off x="2468880" y="2217420"/>
            <a:ext cx="50292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3" name="Google Shape;263;p8"/>
          <p:cNvCxnSpPr/>
          <p:nvPr/>
        </p:nvCxnSpPr>
        <p:spPr>
          <a:xfrm>
            <a:off x="4983480" y="2217420"/>
            <a:ext cx="50292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4" name="Google Shape;264;p8"/>
          <p:cNvCxnSpPr/>
          <p:nvPr/>
        </p:nvCxnSpPr>
        <p:spPr>
          <a:xfrm>
            <a:off x="7406640" y="2217420"/>
            <a:ext cx="59436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5" name="Google Shape;265;p8"/>
          <p:cNvCxnSpPr/>
          <p:nvPr/>
        </p:nvCxnSpPr>
        <p:spPr>
          <a:xfrm>
            <a:off x="10241280" y="2217420"/>
            <a:ext cx="64008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6" name="Google Shape;266;p8"/>
          <p:cNvCxnSpPr/>
          <p:nvPr/>
        </p:nvCxnSpPr>
        <p:spPr>
          <a:xfrm>
            <a:off x="12938760" y="2217420"/>
            <a:ext cx="64008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7" name="Google Shape;267;p8"/>
          <p:cNvCxnSpPr/>
          <p:nvPr/>
        </p:nvCxnSpPr>
        <p:spPr>
          <a:xfrm>
            <a:off x="15727680" y="2217420"/>
            <a:ext cx="50292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8" name="Google Shape;268;p8"/>
          <p:cNvCxnSpPr/>
          <p:nvPr/>
        </p:nvCxnSpPr>
        <p:spPr>
          <a:xfrm>
            <a:off x="3383280" y="4892040"/>
            <a:ext cx="54864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9" name="Google Shape;269;p8"/>
          <p:cNvCxnSpPr/>
          <p:nvPr/>
        </p:nvCxnSpPr>
        <p:spPr>
          <a:xfrm>
            <a:off x="5943600" y="4892040"/>
            <a:ext cx="50292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0" name="Google Shape;270;p8"/>
          <p:cNvCxnSpPr/>
          <p:nvPr/>
        </p:nvCxnSpPr>
        <p:spPr>
          <a:xfrm>
            <a:off x="8458200" y="4892040"/>
            <a:ext cx="54864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1" name="Google Shape;271;p8"/>
          <p:cNvCxnSpPr/>
          <p:nvPr/>
        </p:nvCxnSpPr>
        <p:spPr>
          <a:xfrm>
            <a:off x="11109960" y="4892040"/>
            <a:ext cx="59436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2" name="Google Shape;272;p8"/>
          <p:cNvCxnSpPr/>
          <p:nvPr/>
        </p:nvCxnSpPr>
        <p:spPr>
          <a:xfrm>
            <a:off x="14356080" y="4892040"/>
            <a:ext cx="59436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3" name="Google Shape;273;p8"/>
          <p:cNvCxnSpPr/>
          <p:nvPr/>
        </p:nvCxnSpPr>
        <p:spPr>
          <a:xfrm>
            <a:off x="3657600" y="7795260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4" name="Google Shape;274;p8"/>
          <p:cNvCxnSpPr/>
          <p:nvPr/>
        </p:nvCxnSpPr>
        <p:spPr>
          <a:xfrm>
            <a:off x="6035040" y="7795260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5" name="Google Shape;275;p8"/>
          <p:cNvCxnSpPr/>
          <p:nvPr/>
        </p:nvCxnSpPr>
        <p:spPr>
          <a:xfrm>
            <a:off x="9418320" y="7795260"/>
            <a:ext cx="64008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6" name="Google Shape;276;p8"/>
          <p:cNvCxnSpPr/>
          <p:nvPr/>
        </p:nvCxnSpPr>
        <p:spPr>
          <a:xfrm>
            <a:off x="12618720" y="7795260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7" name="Google Shape;277;p8"/>
          <p:cNvCxnSpPr/>
          <p:nvPr/>
        </p:nvCxnSpPr>
        <p:spPr>
          <a:xfrm>
            <a:off x="14630400" y="2514600"/>
            <a:ext cx="0" cy="205740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8" name="Google Shape;278;p8"/>
          <p:cNvCxnSpPr/>
          <p:nvPr/>
        </p:nvCxnSpPr>
        <p:spPr>
          <a:xfrm flipH="1">
            <a:off x="2743200" y="5212080"/>
            <a:ext cx="13213080" cy="228600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9" name="Google Shape;279;p8"/>
          <p:cNvCxnSpPr/>
          <p:nvPr/>
        </p:nvCxnSpPr>
        <p:spPr>
          <a:xfrm flipH="1">
            <a:off x="5212080" y="5212080"/>
            <a:ext cx="10744200" cy="228600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0" name="Google Shape;280;p8"/>
          <p:cNvCxnSpPr/>
          <p:nvPr/>
        </p:nvCxnSpPr>
        <p:spPr>
          <a:xfrm flipH="1">
            <a:off x="14310360" y="5212080"/>
            <a:ext cx="1645920" cy="228600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1" name="Google Shape;281;p8"/>
          <p:cNvSpPr/>
          <p:nvPr/>
        </p:nvSpPr>
        <p:spPr>
          <a:xfrm>
            <a:off x="868680" y="1920240"/>
            <a:ext cx="1600200" cy="594360"/>
          </a:xfrm>
          <a:prstGeom prst="roundRect">
            <a:avLst>
              <a:gd fmla="val 12308" name="adj"/>
            </a:avLst>
          </a:prstGeom>
          <a:solidFill>
            <a:srgbClr val="DBEAFE"/>
          </a:solidFill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Doctor login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individual account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2971800" y="1920240"/>
            <a:ext cx="2011680" cy="594360"/>
          </a:xfrm>
          <a:prstGeom prst="roundRect">
            <a:avLst>
              <a:gd fmla="val 12308" name="adj"/>
            </a:avLst>
          </a:prstGeom>
          <a:solidFill>
            <a:srgbClr val="CCFBF1"/>
          </a:solidFill>
          <a:ln cap="flat" cmpd="sng" w="152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Choose context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Institution / practice location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5486400" y="1920240"/>
            <a:ext cx="1920240" cy="594360"/>
          </a:xfrm>
          <a:prstGeom prst="roundRect">
            <a:avLst>
              <a:gd fmla="val 12308" name="adj"/>
            </a:avLst>
          </a:prstGeom>
          <a:solidFill>
            <a:srgbClr val="DBEAFE"/>
          </a:solidFill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Hospital + Doctor identity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8001000" y="1920240"/>
            <a:ext cx="2240280" cy="594360"/>
          </a:xfrm>
          <a:prstGeom prst="roundRect">
            <a:avLst>
              <a:gd fmla="val 12308" name="adj"/>
            </a:avLst>
          </a:prstGeom>
          <a:solidFill>
            <a:srgbClr val="DBEAFE"/>
          </a:solidFill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Live worklists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appointments / admissions / discharges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10881360" y="1920240"/>
            <a:ext cx="2057400" cy="594360"/>
          </a:xfrm>
          <a:prstGeom prst="roundRect">
            <a:avLst>
              <a:gd fmla="val 12308" name="adj"/>
            </a:avLst>
          </a:prstGeom>
          <a:solidFill>
            <a:srgbClr val="DBEAFE"/>
          </a:solidFill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Open patient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from queue/master/admission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13578840" y="1920240"/>
            <a:ext cx="2148840" cy="594360"/>
          </a:xfrm>
          <a:prstGeom prst="roundRect">
            <a:avLst>
              <a:gd fmla="val 12308" name="adj"/>
            </a:avLst>
          </a:prstGeom>
          <a:solidFill>
            <a:srgbClr val="EDE9FE"/>
          </a:solidFill>
          <a:ln cap="flat" cmpd="sng" w="152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Access check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relationship + role + consent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16230600" y="1920240"/>
            <a:ext cx="1188720" cy="594360"/>
          </a:xfrm>
          <a:prstGeom prst="roundRect">
            <a:avLst>
              <a:gd fmla="val 12308" name="adj"/>
            </a:avLst>
          </a:prstGeom>
          <a:solidFill>
            <a:srgbClr val="FEE2E2"/>
          </a:solidFill>
          <a:ln cap="flat" cmpd="sng" w="152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70"/>
              <a:buFont typeface="Arial"/>
              <a:buNone/>
            </a:pPr>
            <a:r>
              <a:rPr b="0" i="0" lang="en-US" sz="77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Deny / request access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1143000" y="4572000"/>
            <a:ext cx="2240280" cy="640080"/>
          </a:xfrm>
          <a:prstGeom prst="roundRect">
            <a:avLst>
              <a:gd fmla="val 11429" name="adj"/>
            </a:avLst>
          </a:prstGeom>
          <a:solidFill>
            <a:srgbClr val="F1F5F9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Review factual summary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new entries since last review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3931920" y="4572000"/>
            <a:ext cx="2011680" cy="640080"/>
          </a:xfrm>
          <a:prstGeom prst="roundRect">
            <a:avLst>
              <a:gd fmla="val 11429" name="adj"/>
            </a:avLst>
          </a:prstGeom>
          <a:solidFill>
            <a:srgbClr val="F1F5F9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Drill down to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source data / reports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6446520" y="4572000"/>
            <a:ext cx="2011680" cy="640080"/>
          </a:xfrm>
          <a:prstGeom prst="roundRect">
            <a:avLst>
              <a:gd fmla="val 11429" name="adj"/>
            </a:avLst>
          </a:prstGeom>
          <a:solidFill>
            <a:srgbClr val="DBEAFE"/>
          </a:solidFill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Consultation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history / exam / advice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9006840" y="4572000"/>
            <a:ext cx="2103120" cy="640080"/>
          </a:xfrm>
          <a:prstGeom prst="roundRect">
            <a:avLst>
              <a:gd fmla="val 11429" name="adj"/>
            </a:avLst>
          </a:prstGeom>
          <a:solidFill>
            <a:srgbClr val="DBEAFE"/>
          </a:solidFill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39"/>
              <a:buFont typeface="Arial"/>
              <a:buNone/>
            </a:pPr>
            <a:r>
              <a:rPr b="0" i="0" lang="en-US" sz="84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Verify fields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39"/>
              <a:buFont typeface="Arial"/>
              <a:buNone/>
            </a:pPr>
            <a:r>
              <a:rPr b="0" i="0" lang="en-US" sz="84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lock clinically important data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11704320" y="4572000"/>
            <a:ext cx="2651760" cy="640080"/>
          </a:xfrm>
          <a:prstGeom prst="roundRect">
            <a:avLst>
              <a:gd fmla="val 11429" name="adj"/>
            </a:avLst>
          </a:prstGeom>
          <a:solidFill>
            <a:srgbClr val="DBEAFE"/>
          </a:solidFill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Create note / diagnosis / prescription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clinician-created data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14950440" y="4572000"/>
            <a:ext cx="2057400" cy="640080"/>
          </a:xfrm>
          <a:prstGeom prst="roundRect">
            <a:avLst>
              <a:gd fmla="val 11429" name="adj"/>
            </a:avLst>
          </a:prstGeom>
          <a:solidFill>
            <a:srgbClr val="DCFCE7"/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Plan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follow-up / monitoring / admission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1828800" y="7498080"/>
            <a:ext cx="1828800" cy="594360"/>
          </a:xfrm>
          <a:prstGeom prst="roundRect">
            <a:avLst>
              <a:gd fmla="val 12308" name="adj"/>
            </a:avLst>
          </a:prstGeom>
          <a:solidFill>
            <a:srgbClr val="CFFAFE"/>
          </a:solidFill>
          <a:ln cap="flat" cmpd="sng" w="152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Follow-up appointment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or teleconsult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4343400" y="7498080"/>
            <a:ext cx="1691640" cy="594360"/>
          </a:xfrm>
          <a:prstGeom prst="roundRect">
            <a:avLst>
              <a:gd fmla="val 12308" name="adj"/>
            </a:avLst>
          </a:prstGeom>
          <a:solidFill>
            <a:srgbClr val="DCFCE7"/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Admission pathway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if needed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6720840" y="7452360"/>
            <a:ext cx="2697480" cy="685800"/>
          </a:xfrm>
          <a:prstGeom prst="roundRect">
            <a:avLst>
              <a:gd fmla="val 10667" name="adj"/>
            </a:avLst>
          </a:prstGeom>
          <a:solidFill>
            <a:srgbClr val="EDE9FE"/>
          </a:solidFill>
          <a:ln cap="flat" cmpd="sng" w="152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Longitudinal access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only if individually connected + shared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10058400" y="7452360"/>
            <a:ext cx="2560320" cy="685800"/>
          </a:xfrm>
          <a:prstGeom prst="roundRect">
            <a:avLst>
              <a:gd fmla="val 10667" name="adj"/>
            </a:avLst>
          </a:prstGeom>
          <a:solidFill>
            <a:srgbClr val="F1F5F9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Audit trail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viewed / verified / prescribed / changed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13304520" y="7498080"/>
            <a:ext cx="2011680" cy="594360"/>
          </a:xfrm>
          <a:prstGeom prst="roundRect">
            <a:avLst>
              <a:gd fmla="val 12308" name="adj"/>
            </a:avLst>
          </a:prstGeom>
          <a:solidFill>
            <a:srgbClr val="DCFCE7"/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Care team handover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role-scoped tasks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502920" y="9930384"/>
            <a:ext cx="17282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Tinytums V1 — engineering diagram canvas | rounded = workflow action | diamond = decision | cylinder = stored data | dashed = data/access relation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D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BFD"/>
          </a:solidFill>
          <a:ln cap="flat" cmpd="sng" w="12700">
            <a:solidFill>
              <a:srgbClr val="FAFBF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9"/>
          <p:cNvSpPr/>
          <p:nvPr/>
        </p:nvSpPr>
        <p:spPr>
          <a:xfrm>
            <a:off x="384048" y="320040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1143000" y="201168"/>
            <a:ext cx="1243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Institution Workflow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1005840" y="713232"/>
            <a:ext cx="1627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Institution-first operating model with individual named staff accounts, department/care-team management, and operational dashboards.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9" name="Google Shape;309;p9"/>
          <p:cNvCxnSpPr/>
          <p:nvPr/>
        </p:nvCxnSpPr>
        <p:spPr>
          <a:xfrm>
            <a:off x="502920" y="1124712"/>
            <a:ext cx="17282160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0" name="Google Shape;310;p9"/>
          <p:cNvSpPr/>
          <p:nvPr/>
        </p:nvSpPr>
        <p:spPr>
          <a:xfrm>
            <a:off x="502920" y="1417320"/>
            <a:ext cx="17282160" cy="2011680"/>
          </a:xfrm>
          <a:prstGeom prst="roundRect">
            <a:avLst>
              <a:gd fmla="val 5455" name="adj"/>
            </a:avLst>
          </a:prstGeom>
          <a:solidFill>
            <a:srgbClr val="CCFBF1">
              <a:alpha val="90196"/>
            </a:srgbClr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9"/>
          <p:cNvSpPr/>
          <p:nvPr/>
        </p:nvSpPr>
        <p:spPr>
          <a:xfrm>
            <a:off x="640080" y="148132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Institution setup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502920" y="3703320"/>
            <a:ext cx="17282160" cy="2743200"/>
          </a:xfrm>
          <a:prstGeom prst="roundRect">
            <a:avLst>
              <a:gd fmla="val 4000" name="adj"/>
            </a:avLst>
          </a:prstGeom>
          <a:solidFill>
            <a:srgbClr val="CCFBF1">
              <a:alpha val="90196"/>
            </a:srgbClr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9"/>
          <p:cNvSpPr/>
          <p:nvPr/>
        </p:nvSpPr>
        <p:spPr>
          <a:xfrm>
            <a:off x="640080" y="376732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Operations dashboard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502920" y="6812280"/>
            <a:ext cx="17282160" cy="2011680"/>
          </a:xfrm>
          <a:prstGeom prst="roundRect">
            <a:avLst>
              <a:gd fmla="val 5455" name="adj"/>
            </a:avLst>
          </a:prstGeom>
          <a:solidFill>
            <a:srgbClr val="EDE9FE">
              <a:alpha val="90196"/>
            </a:srgbClr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9"/>
          <p:cNvSpPr/>
          <p:nvPr/>
        </p:nvSpPr>
        <p:spPr>
          <a:xfrm>
            <a:off x="640080" y="687628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Governance / restrictions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6" name="Google Shape;316;p9"/>
          <p:cNvCxnSpPr/>
          <p:nvPr/>
        </p:nvCxnSpPr>
        <p:spPr>
          <a:xfrm>
            <a:off x="3108960" y="2217420"/>
            <a:ext cx="54864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7" name="Google Shape;317;p9"/>
          <p:cNvCxnSpPr/>
          <p:nvPr/>
        </p:nvCxnSpPr>
        <p:spPr>
          <a:xfrm>
            <a:off x="5989320" y="2217420"/>
            <a:ext cx="50292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8" name="Google Shape;318;p9"/>
          <p:cNvCxnSpPr/>
          <p:nvPr/>
        </p:nvCxnSpPr>
        <p:spPr>
          <a:xfrm>
            <a:off x="8503920" y="2217420"/>
            <a:ext cx="59436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9" name="Google Shape;319;p9"/>
          <p:cNvCxnSpPr/>
          <p:nvPr/>
        </p:nvCxnSpPr>
        <p:spPr>
          <a:xfrm>
            <a:off x="11567160" y="2217420"/>
            <a:ext cx="59436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0" name="Google Shape;320;p9"/>
          <p:cNvCxnSpPr/>
          <p:nvPr/>
        </p:nvCxnSpPr>
        <p:spPr>
          <a:xfrm>
            <a:off x="14447520" y="2217420"/>
            <a:ext cx="59436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1" name="Google Shape;321;p9"/>
          <p:cNvCxnSpPr/>
          <p:nvPr/>
        </p:nvCxnSpPr>
        <p:spPr>
          <a:xfrm>
            <a:off x="3337560" y="4594860"/>
            <a:ext cx="64008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2" name="Google Shape;322;p9"/>
          <p:cNvCxnSpPr/>
          <p:nvPr/>
        </p:nvCxnSpPr>
        <p:spPr>
          <a:xfrm>
            <a:off x="6720840" y="4594860"/>
            <a:ext cx="73152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3" name="Google Shape;323;p9"/>
          <p:cNvCxnSpPr/>
          <p:nvPr/>
        </p:nvCxnSpPr>
        <p:spPr>
          <a:xfrm>
            <a:off x="10104120" y="4594860"/>
            <a:ext cx="73152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4" name="Google Shape;324;p9"/>
          <p:cNvCxnSpPr/>
          <p:nvPr/>
        </p:nvCxnSpPr>
        <p:spPr>
          <a:xfrm>
            <a:off x="13350240" y="4594860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5" name="Google Shape;325;p9"/>
          <p:cNvCxnSpPr/>
          <p:nvPr/>
        </p:nvCxnSpPr>
        <p:spPr>
          <a:xfrm>
            <a:off x="4389120" y="6012180"/>
            <a:ext cx="82296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6" name="Google Shape;326;p9"/>
          <p:cNvCxnSpPr/>
          <p:nvPr/>
        </p:nvCxnSpPr>
        <p:spPr>
          <a:xfrm>
            <a:off x="7543800" y="6012180"/>
            <a:ext cx="77724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7" name="Google Shape;327;p9"/>
          <p:cNvCxnSpPr/>
          <p:nvPr/>
        </p:nvCxnSpPr>
        <p:spPr>
          <a:xfrm>
            <a:off x="10469880" y="6012180"/>
            <a:ext cx="77724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8" name="Google Shape;328;p9"/>
          <p:cNvCxnSpPr/>
          <p:nvPr/>
        </p:nvCxnSpPr>
        <p:spPr>
          <a:xfrm>
            <a:off x="13487400" y="6012180"/>
            <a:ext cx="77724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9" name="Google Shape;329;p9"/>
          <p:cNvCxnSpPr/>
          <p:nvPr/>
        </p:nvCxnSpPr>
        <p:spPr>
          <a:xfrm>
            <a:off x="3474720" y="7840980"/>
            <a:ext cx="82296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0" name="Google Shape;330;p9"/>
          <p:cNvCxnSpPr/>
          <p:nvPr/>
        </p:nvCxnSpPr>
        <p:spPr>
          <a:xfrm>
            <a:off x="6629400" y="7840980"/>
            <a:ext cx="73152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1" name="Google Shape;331;p9"/>
          <p:cNvCxnSpPr/>
          <p:nvPr/>
        </p:nvCxnSpPr>
        <p:spPr>
          <a:xfrm>
            <a:off x="9829800" y="7840980"/>
            <a:ext cx="73152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2" name="Google Shape;332;p9"/>
          <p:cNvCxnSpPr/>
          <p:nvPr/>
        </p:nvCxnSpPr>
        <p:spPr>
          <a:xfrm>
            <a:off x="13075920" y="7840980"/>
            <a:ext cx="73152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3" name="Google Shape;333;p9"/>
          <p:cNvCxnSpPr/>
          <p:nvPr/>
        </p:nvCxnSpPr>
        <p:spPr>
          <a:xfrm flipH="1">
            <a:off x="2057400" y="2514600"/>
            <a:ext cx="13990320" cy="178308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4" name="Google Shape;334;p9"/>
          <p:cNvCxnSpPr/>
          <p:nvPr/>
        </p:nvCxnSpPr>
        <p:spPr>
          <a:xfrm>
            <a:off x="15316200" y="4937760"/>
            <a:ext cx="0" cy="77724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5" name="Google Shape;335;p9"/>
          <p:cNvCxnSpPr/>
          <p:nvPr/>
        </p:nvCxnSpPr>
        <p:spPr>
          <a:xfrm flipH="1">
            <a:off x="3108960" y="4937760"/>
            <a:ext cx="8961120" cy="77724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6" name="Google Shape;336;p9"/>
          <p:cNvSpPr/>
          <p:nvPr/>
        </p:nvSpPr>
        <p:spPr>
          <a:xfrm>
            <a:off x="868680" y="1920240"/>
            <a:ext cx="2240280" cy="594360"/>
          </a:xfrm>
          <a:prstGeom prst="roundRect">
            <a:avLst>
              <a:gd fmla="val 12308" name="adj"/>
            </a:avLst>
          </a:prstGeom>
          <a:solidFill>
            <a:srgbClr val="CCFBF1"/>
          </a:solidFill>
          <a:ln cap="flat" cmpd="sng" w="152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Institution owner / admin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may also be primary doctor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3657600" y="1920240"/>
            <a:ext cx="2331720" cy="594360"/>
          </a:xfrm>
          <a:prstGeom prst="roundRect">
            <a:avLst>
              <a:gd fmla="val 12308" name="adj"/>
            </a:avLst>
          </a:prstGeom>
          <a:solidFill>
            <a:srgbClr val="CCFBF1"/>
          </a:solidFill>
          <a:ln cap="flat" cmpd="sng" w="152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Create institution profile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branches / departments / services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6492240" y="1920240"/>
            <a:ext cx="2011680" cy="594360"/>
          </a:xfrm>
          <a:prstGeom prst="roundRect">
            <a:avLst>
              <a:gd fmla="val 12308" name="adj"/>
            </a:avLst>
          </a:prstGeom>
          <a:solidFill>
            <a:srgbClr val="CCFBF1"/>
          </a:solidFill>
          <a:ln cap="flat" cmpd="sng" w="152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Invite staff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individual accounts only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9098280" y="1920240"/>
            <a:ext cx="2468880" cy="594360"/>
          </a:xfrm>
          <a:prstGeom prst="roundRect">
            <a:avLst>
              <a:gd fmla="val 12308" name="adj"/>
            </a:avLst>
          </a:prstGeom>
          <a:solidFill>
            <a:srgbClr val="EDE9FE"/>
          </a:solidFill>
          <a:ln cap="flat" cmpd="sng" w="152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Assign roles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OBGY / pediatrician / nurse / junior / allied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12161520" y="1920240"/>
            <a:ext cx="2286000" cy="594360"/>
          </a:xfrm>
          <a:prstGeom prst="roundRect">
            <a:avLst>
              <a:gd fmla="val 12308" name="adj"/>
            </a:avLst>
          </a:prstGeom>
          <a:solidFill>
            <a:srgbClr val="DBEAFE"/>
          </a:solidFill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Professional verification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registry/manual workflow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15041880" y="1920240"/>
            <a:ext cx="2057400" cy="594360"/>
          </a:xfrm>
          <a:prstGeom prst="roundRect">
            <a:avLst>
              <a:gd fmla="val 12308" name="adj"/>
            </a:avLst>
          </a:prstGeom>
          <a:solidFill>
            <a:srgbClr val="CFFAFE"/>
          </a:solidFill>
          <a:ln cap="flat" cmpd="sng" w="152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Go-live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public profiles + scheduling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914400" y="4297680"/>
            <a:ext cx="2423160" cy="594360"/>
          </a:xfrm>
          <a:prstGeom prst="roundRect">
            <a:avLst>
              <a:gd fmla="val 12308" name="adj"/>
            </a:avLst>
          </a:prstGeom>
          <a:solidFill>
            <a:srgbClr val="CCFBF1"/>
          </a:solidFill>
          <a:ln cap="flat" cmpd="sng" w="152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Institution dashboard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hospital name + clinician context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3977640" y="4251960"/>
            <a:ext cx="2743200" cy="685800"/>
          </a:xfrm>
          <a:prstGeom prst="roundRect">
            <a:avLst>
              <a:gd fmla="val 10667" name="adj"/>
            </a:avLst>
          </a:prstGeom>
          <a:solidFill>
            <a:srgbClr val="CCFBF1"/>
          </a:solidFill>
          <a:ln cap="flat" cmpd="sng" w="152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70"/>
              <a:buFont typeface="Arial"/>
              <a:buNone/>
            </a:pPr>
            <a:r>
              <a:rPr b="0" i="0" lang="en-US" sz="77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Live counts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70"/>
              <a:buFont typeface="Arial"/>
              <a:buNone/>
            </a:pPr>
            <a:r>
              <a:rPr b="0" i="0" lang="en-US" sz="77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today appointments / admitted / discharge planned / discharged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7452360" y="4251960"/>
            <a:ext cx="2651760" cy="685800"/>
          </a:xfrm>
          <a:prstGeom prst="roundRect">
            <a:avLst>
              <a:gd fmla="val 10667" name="adj"/>
            </a:avLst>
          </a:prstGeom>
          <a:solidFill>
            <a:srgbClr val="CCFBF1"/>
          </a:solidFill>
          <a:ln cap="flat" cmpd="sng" w="152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Queues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upcoming admissions / appointment order / seen today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10835640" y="4251960"/>
            <a:ext cx="2514600" cy="685800"/>
          </a:xfrm>
          <a:prstGeom prst="roundRect">
            <a:avLst>
              <a:gd fmla="val 10667" name="adj"/>
            </a:avLst>
          </a:prstGeom>
          <a:solidFill>
            <a:srgbClr val="F1F5F9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10"/>
              <a:buFont typeface="Arial"/>
              <a:buNone/>
            </a:pPr>
            <a:r>
              <a:rPr b="0" i="0" lang="en-US" sz="81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Patient master database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10"/>
              <a:buFont typeface="Arial"/>
              <a:buNone/>
            </a:pPr>
            <a:r>
              <a:rPr b="0" i="0" lang="en-US" sz="81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authorised institutional patients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14036040" y="4251960"/>
            <a:ext cx="2560320" cy="685800"/>
          </a:xfrm>
          <a:prstGeom prst="roundRect">
            <a:avLst>
              <a:gd fmla="val 10667" name="adj"/>
            </a:avLst>
          </a:prstGeom>
          <a:solidFill>
            <a:srgbClr val="DCFCE7"/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10"/>
              <a:buFont typeface="Arial"/>
              <a:buNone/>
            </a:pPr>
            <a:r>
              <a:rPr b="0" i="0" lang="en-US" sz="81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Inpatient admission area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10"/>
              <a:buFont typeface="Arial"/>
              <a:buNone/>
            </a:pPr>
            <a:r>
              <a:rPr b="0" i="0" lang="en-US" sz="81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diagnosis + care team + discharge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1828800" y="5715000"/>
            <a:ext cx="2560320" cy="594360"/>
          </a:xfrm>
          <a:prstGeom prst="roundRect">
            <a:avLst>
              <a:gd fmla="val 12308" name="adj"/>
            </a:avLst>
          </a:prstGeom>
          <a:solidFill>
            <a:srgbClr val="F1F5F9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30"/>
              <a:buFont typeface="Arial"/>
              <a:buNone/>
            </a:pPr>
            <a:r>
              <a:rPr b="0" i="0" lang="en-US" sz="83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Connected / treated patients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30"/>
              <a:buFont typeface="Arial"/>
              <a:buNone/>
            </a:pPr>
            <a:r>
              <a:rPr b="0" i="0" lang="en-US" sz="83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filtered by relationship and episode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5212080" y="5715000"/>
            <a:ext cx="2331720" cy="594360"/>
          </a:xfrm>
          <a:prstGeom prst="roundRect">
            <a:avLst>
              <a:gd fmla="val 12308" name="adj"/>
            </a:avLst>
          </a:prstGeom>
          <a:solidFill>
            <a:srgbClr val="DCFCE7"/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Care-team management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assign / reassign / remove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8321040" y="5715000"/>
            <a:ext cx="2148840" cy="594360"/>
          </a:xfrm>
          <a:prstGeom prst="roundRect">
            <a:avLst>
              <a:gd fmla="val 12308" name="adj"/>
            </a:avLst>
          </a:prstGeom>
          <a:solidFill>
            <a:srgbClr val="DBEAFE"/>
          </a:solidFill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Clinical records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entered by named users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11247120" y="5715000"/>
            <a:ext cx="2240280" cy="594360"/>
          </a:xfrm>
          <a:prstGeom prst="roundRect">
            <a:avLst>
              <a:gd fmla="val 12308" name="adj"/>
            </a:avLst>
          </a:prstGeom>
          <a:solidFill>
            <a:srgbClr val="F1F5F9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Reports / prescriptions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traceable to source actor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14264640" y="5715000"/>
            <a:ext cx="2286000" cy="594360"/>
          </a:xfrm>
          <a:prstGeom prst="roundRect">
            <a:avLst>
              <a:gd fmla="val 12308" name="adj"/>
            </a:avLst>
          </a:prstGeom>
          <a:solidFill>
            <a:srgbClr val="DCFCE7"/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Discharge / close episode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reduce temporary access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1280160" y="7543800"/>
            <a:ext cx="2194560" cy="594360"/>
          </a:xfrm>
          <a:prstGeom prst="roundRect">
            <a:avLst>
              <a:gd fmla="val 12308" name="adj"/>
            </a:avLst>
          </a:prstGeom>
          <a:solidFill>
            <a:srgbClr val="FEE2E2"/>
          </a:solidFill>
          <a:ln cap="flat" cmpd="sng" w="152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No shared passwords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No generic clinical login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4297680" y="7543800"/>
            <a:ext cx="2331720" cy="594360"/>
          </a:xfrm>
          <a:prstGeom prst="roundRect">
            <a:avLst>
              <a:gd fmla="val 12308" name="adj"/>
            </a:avLst>
          </a:prstGeom>
          <a:solidFill>
            <a:srgbClr val="EDE9FE"/>
          </a:solidFill>
          <a:ln cap="flat" cmpd="sng" w="152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Institution-scoped access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not global doctor access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9"/>
          <p:cNvSpPr/>
          <p:nvPr/>
        </p:nvSpPr>
        <p:spPr>
          <a:xfrm>
            <a:off x="7360920" y="7543800"/>
            <a:ext cx="2468880" cy="594360"/>
          </a:xfrm>
          <a:prstGeom prst="roundRect">
            <a:avLst>
              <a:gd fmla="val 12308" name="adj"/>
            </a:avLst>
          </a:prstGeom>
          <a:solidFill>
            <a:srgbClr val="F1F5F9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Audit every material action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user + role + time + context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10561320" y="7543800"/>
            <a:ext cx="2514600" cy="594360"/>
          </a:xfrm>
          <a:prstGeom prst="roundRect">
            <a:avLst>
              <a:gd fmla="val 12308" name="adj"/>
            </a:avLst>
          </a:prstGeom>
          <a:solidFill>
            <a:srgbClr val="EDE9FE"/>
          </a:solidFill>
          <a:ln cap="flat" cmpd="sng" w="152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Permission matrix configurable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within safe clinical bounds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13807440" y="7543800"/>
            <a:ext cx="2468880" cy="594360"/>
          </a:xfrm>
          <a:prstGeom prst="roundRect">
            <a:avLst>
              <a:gd fmla="val 12308" name="adj"/>
            </a:avLst>
          </a:prstGeom>
          <a:solidFill>
            <a:srgbClr val="FFEDD5"/>
          </a:solidFill>
          <a:ln cap="flat" cmpd="sng" w="15225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B2B2C subscriptions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TBD pricing/value proposition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502920" y="9930384"/>
            <a:ext cx="17282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Tinytums V1 — engineering diagram canvas | rounded = workflow action | diamond = decision | cylinder = stored data | dashed = data/access relation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D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BFD"/>
          </a:solidFill>
          <a:ln cap="flat" cmpd="sng" w="12700">
            <a:solidFill>
              <a:srgbClr val="FAFBF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0"/>
          <p:cNvSpPr/>
          <p:nvPr/>
        </p:nvSpPr>
        <p:spPr>
          <a:xfrm>
            <a:off x="384048" y="320040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1143000" y="201168"/>
            <a:ext cx="1243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Clinical Care-Team Workflow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1005840" y="713232"/>
            <a:ext cx="1627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Multidisciplinary care inside and outside institutions; each role gets purpose-appropriate access, not a cloned doctor view.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7" name="Google Shape;367;p10"/>
          <p:cNvCxnSpPr/>
          <p:nvPr/>
        </p:nvCxnSpPr>
        <p:spPr>
          <a:xfrm>
            <a:off x="502920" y="1124712"/>
            <a:ext cx="17282160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8" name="Google Shape;368;p10"/>
          <p:cNvSpPr/>
          <p:nvPr/>
        </p:nvSpPr>
        <p:spPr>
          <a:xfrm>
            <a:off x="502920" y="1417320"/>
            <a:ext cx="17282160" cy="1965960"/>
          </a:xfrm>
          <a:prstGeom prst="roundRect">
            <a:avLst>
              <a:gd fmla="val 5581" name="adj"/>
            </a:avLst>
          </a:prstGeom>
          <a:solidFill>
            <a:srgbClr val="DCFCE7">
              <a:alpha val="90196"/>
            </a:srgbClr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0"/>
          <p:cNvSpPr/>
          <p:nvPr/>
        </p:nvSpPr>
        <p:spPr>
          <a:xfrm>
            <a:off x="640080" y="148132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Team creation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502920" y="3703320"/>
            <a:ext cx="17282160" cy="2788920"/>
          </a:xfrm>
          <a:prstGeom prst="roundRect">
            <a:avLst>
              <a:gd fmla="val 3934" name="adj"/>
            </a:avLst>
          </a:prstGeom>
          <a:solidFill>
            <a:srgbClr val="DCFCE7">
              <a:alpha val="90196"/>
            </a:srgbClr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0"/>
          <p:cNvSpPr/>
          <p:nvPr/>
        </p:nvSpPr>
        <p:spPr>
          <a:xfrm>
            <a:off x="640080" y="376732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Role-scoped work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502920" y="6812280"/>
            <a:ext cx="17282160" cy="2011680"/>
          </a:xfrm>
          <a:prstGeom prst="roundRect">
            <a:avLst>
              <a:gd fmla="val 5455" name="adj"/>
            </a:avLst>
          </a:prstGeom>
          <a:solidFill>
            <a:srgbClr val="EDE9FE">
              <a:alpha val="90196"/>
            </a:srgbClr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0"/>
          <p:cNvSpPr/>
          <p:nvPr/>
        </p:nvSpPr>
        <p:spPr>
          <a:xfrm>
            <a:off x="640080" y="687628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Ongoing vs temporary relationships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4" name="Google Shape;374;p10"/>
          <p:cNvCxnSpPr/>
          <p:nvPr/>
        </p:nvCxnSpPr>
        <p:spPr>
          <a:xfrm>
            <a:off x="3383280" y="2171700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5" name="Google Shape;375;p10"/>
          <p:cNvCxnSpPr/>
          <p:nvPr/>
        </p:nvCxnSpPr>
        <p:spPr>
          <a:xfrm>
            <a:off x="7589520" y="1805940"/>
            <a:ext cx="640080" cy="36576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6" name="Google Shape;376;p10"/>
          <p:cNvCxnSpPr/>
          <p:nvPr/>
        </p:nvCxnSpPr>
        <p:spPr>
          <a:xfrm flipH="1" rot="10800000">
            <a:off x="7589520" y="2171700"/>
            <a:ext cx="640080" cy="64008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7" name="Google Shape;377;p10"/>
          <p:cNvCxnSpPr/>
          <p:nvPr/>
        </p:nvCxnSpPr>
        <p:spPr>
          <a:xfrm>
            <a:off x="11155680" y="2171700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8" name="Google Shape;378;p10"/>
          <p:cNvCxnSpPr/>
          <p:nvPr/>
        </p:nvCxnSpPr>
        <p:spPr>
          <a:xfrm>
            <a:off x="14218920" y="2171700"/>
            <a:ext cx="59436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9" name="Google Shape;379;p10"/>
          <p:cNvCxnSpPr/>
          <p:nvPr/>
        </p:nvCxnSpPr>
        <p:spPr>
          <a:xfrm>
            <a:off x="3291840" y="4549140"/>
            <a:ext cx="59436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0" name="Google Shape;380;p10"/>
          <p:cNvCxnSpPr/>
          <p:nvPr/>
        </p:nvCxnSpPr>
        <p:spPr>
          <a:xfrm>
            <a:off x="6217920" y="4549140"/>
            <a:ext cx="59436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1" name="Google Shape;381;p10"/>
          <p:cNvCxnSpPr/>
          <p:nvPr/>
        </p:nvCxnSpPr>
        <p:spPr>
          <a:xfrm>
            <a:off x="9281160" y="4549140"/>
            <a:ext cx="64008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2" name="Google Shape;382;p10"/>
          <p:cNvCxnSpPr/>
          <p:nvPr/>
        </p:nvCxnSpPr>
        <p:spPr>
          <a:xfrm>
            <a:off x="12344400" y="4549140"/>
            <a:ext cx="64008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3" name="Google Shape;383;p10"/>
          <p:cNvCxnSpPr/>
          <p:nvPr/>
        </p:nvCxnSpPr>
        <p:spPr>
          <a:xfrm>
            <a:off x="8641080" y="5875020"/>
            <a:ext cx="77724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4" name="Google Shape;384;p10"/>
          <p:cNvCxnSpPr/>
          <p:nvPr/>
        </p:nvCxnSpPr>
        <p:spPr>
          <a:xfrm>
            <a:off x="11750040" y="5875020"/>
            <a:ext cx="77724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5" name="Google Shape;385;p10"/>
          <p:cNvCxnSpPr/>
          <p:nvPr/>
        </p:nvCxnSpPr>
        <p:spPr>
          <a:xfrm>
            <a:off x="4754880" y="7795260"/>
            <a:ext cx="82296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6" name="Google Shape;386;p10"/>
          <p:cNvCxnSpPr/>
          <p:nvPr/>
        </p:nvCxnSpPr>
        <p:spPr>
          <a:xfrm>
            <a:off x="8275320" y="7795260"/>
            <a:ext cx="82296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7" name="Google Shape;387;p10"/>
          <p:cNvCxnSpPr/>
          <p:nvPr/>
        </p:nvCxnSpPr>
        <p:spPr>
          <a:xfrm>
            <a:off x="11612880" y="7795260"/>
            <a:ext cx="82296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8" name="Google Shape;388;p10"/>
          <p:cNvCxnSpPr/>
          <p:nvPr/>
        </p:nvCxnSpPr>
        <p:spPr>
          <a:xfrm flipH="1" rot="10800000">
            <a:off x="4572000" y="1810512"/>
            <a:ext cx="1143000" cy="384048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9" name="Google Shape;389;p10"/>
          <p:cNvCxnSpPr/>
          <p:nvPr/>
        </p:nvCxnSpPr>
        <p:spPr>
          <a:xfrm>
            <a:off x="4572000" y="2194560"/>
            <a:ext cx="1143000" cy="621792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0" name="Google Shape;390;p10"/>
          <p:cNvCxnSpPr/>
          <p:nvPr/>
        </p:nvCxnSpPr>
        <p:spPr>
          <a:xfrm rot="10800000">
            <a:off x="15910560" y="2194560"/>
            <a:ext cx="0" cy="27432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1" name="Google Shape;391;p10"/>
          <p:cNvCxnSpPr/>
          <p:nvPr/>
        </p:nvCxnSpPr>
        <p:spPr>
          <a:xfrm>
            <a:off x="15910560" y="2468880"/>
            <a:ext cx="0" cy="2578608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2" name="Google Shape;392;p10"/>
          <p:cNvCxnSpPr/>
          <p:nvPr/>
        </p:nvCxnSpPr>
        <p:spPr>
          <a:xfrm>
            <a:off x="15910560" y="2468880"/>
            <a:ext cx="0" cy="5321808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3" name="Google Shape;393;p10"/>
          <p:cNvCxnSpPr/>
          <p:nvPr/>
        </p:nvCxnSpPr>
        <p:spPr>
          <a:xfrm flipH="1">
            <a:off x="7223760" y="4937760"/>
            <a:ext cx="914400" cy="64008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4" name="Google Shape;394;p10"/>
          <p:cNvCxnSpPr/>
          <p:nvPr/>
        </p:nvCxnSpPr>
        <p:spPr>
          <a:xfrm flipH="1">
            <a:off x="13716000" y="4846320"/>
            <a:ext cx="457200" cy="73152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5" name="Google Shape;395;p10"/>
          <p:cNvSpPr/>
          <p:nvPr/>
        </p:nvSpPr>
        <p:spPr>
          <a:xfrm>
            <a:off x="914400" y="1874520"/>
            <a:ext cx="2468880" cy="594360"/>
          </a:xfrm>
          <a:prstGeom prst="roundRect">
            <a:avLst>
              <a:gd fmla="val 12308" name="adj"/>
            </a:avLst>
          </a:prstGeom>
          <a:solidFill>
            <a:srgbClr val="DCFCE7"/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Care team needed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outpatient / admission / postpartum / child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0"/>
          <p:cNvSpPr/>
          <p:nvPr/>
        </p:nvSpPr>
        <p:spPr>
          <a:xfrm>
            <a:off x="4069080" y="1737360"/>
            <a:ext cx="1051560" cy="868680"/>
          </a:xfrm>
          <a:prstGeom prst="diamond">
            <a:avLst/>
          </a:prstGeom>
          <a:solidFill>
            <a:srgbClr val="FEF3C7"/>
          </a:solidFill>
          <a:ln cap="flat" cmpd="sng" w="152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Who initiates?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0"/>
          <p:cNvSpPr/>
          <p:nvPr/>
        </p:nvSpPr>
        <p:spPr>
          <a:xfrm>
            <a:off x="5715000" y="1508760"/>
            <a:ext cx="1874520" cy="594360"/>
          </a:xfrm>
          <a:prstGeom prst="roundRect">
            <a:avLst>
              <a:gd fmla="val 12308" name="adj"/>
            </a:avLst>
          </a:prstGeom>
          <a:solidFill>
            <a:srgbClr val="FCE7F3"/>
          </a:solidFill>
          <a:ln cap="flat" cmpd="sng" w="15225">
            <a:solidFill>
              <a:srgbClr val="DB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Mother connects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external professional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5715000" y="2514600"/>
            <a:ext cx="1874520" cy="594360"/>
          </a:xfrm>
          <a:prstGeom prst="roundRect">
            <a:avLst>
              <a:gd fmla="val 12308" name="adj"/>
            </a:avLst>
          </a:prstGeom>
          <a:solidFill>
            <a:srgbClr val="CCFBF1"/>
          </a:solidFill>
          <a:ln cap="flat" cmpd="sng" w="152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Institution assigns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admission staff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0"/>
          <p:cNvSpPr/>
          <p:nvPr/>
        </p:nvSpPr>
        <p:spPr>
          <a:xfrm>
            <a:off x="8229600" y="1874520"/>
            <a:ext cx="2926080" cy="594360"/>
          </a:xfrm>
          <a:prstGeom prst="roundRect">
            <a:avLst>
              <a:gd fmla="val 12308" name="adj"/>
            </a:avLst>
          </a:prstGeom>
          <a:solidFill>
            <a:srgbClr val="EDE9FE"/>
          </a:solidFill>
          <a:ln cap="flat" cmpd="sng" w="152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Select role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OBGY / pediatrician / nurse / junior / physio / lactation / dietitian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0"/>
          <p:cNvSpPr/>
          <p:nvPr/>
        </p:nvSpPr>
        <p:spPr>
          <a:xfrm>
            <a:off x="11841480" y="1874520"/>
            <a:ext cx="2377440" cy="594360"/>
          </a:xfrm>
          <a:prstGeom prst="roundRect">
            <a:avLst>
              <a:gd fmla="val 12308" name="adj"/>
            </a:avLst>
          </a:prstGeom>
          <a:solidFill>
            <a:srgbClr val="EDE9FE"/>
          </a:solidFill>
          <a:ln cap="flat" cmpd="sng" w="152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Apply permission matrix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role + relationship + context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0"/>
          <p:cNvSpPr/>
          <p:nvPr/>
        </p:nvSpPr>
        <p:spPr>
          <a:xfrm>
            <a:off x="14813280" y="1874520"/>
            <a:ext cx="2194560" cy="594360"/>
          </a:xfrm>
          <a:prstGeom prst="roundRect">
            <a:avLst>
              <a:gd fmla="val 12308" name="adj"/>
            </a:avLst>
          </a:prstGeom>
          <a:solidFill>
            <a:srgbClr val="DCFCE7"/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Active team member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visible on patient/team page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0"/>
          <p:cNvSpPr/>
          <p:nvPr/>
        </p:nvSpPr>
        <p:spPr>
          <a:xfrm>
            <a:off x="1051560" y="4251960"/>
            <a:ext cx="2240280" cy="594360"/>
          </a:xfrm>
          <a:prstGeom prst="roundRect">
            <a:avLst>
              <a:gd fmla="val 12308" name="adj"/>
            </a:avLst>
          </a:prstGeom>
          <a:solidFill>
            <a:srgbClr val="DBEAFE"/>
          </a:solidFill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Primary/consultant OBGY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broad clinical access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0"/>
          <p:cNvSpPr/>
          <p:nvPr/>
        </p:nvSpPr>
        <p:spPr>
          <a:xfrm>
            <a:off x="3886200" y="4251960"/>
            <a:ext cx="2331720" cy="594360"/>
          </a:xfrm>
          <a:prstGeom prst="roundRect">
            <a:avLst>
              <a:gd fmla="val 12308" name="adj"/>
            </a:avLst>
          </a:prstGeom>
          <a:solidFill>
            <a:srgbClr val="DBEAFE"/>
          </a:solidFill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Junior doctor/resident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broad access + supervision policy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0"/>
          <p:cNvSpPr/>
          <p:nvPr/>
        </p:nvSpPr>
        <p:spPr>
          <a:xfrm>
            <a:off x="6812280" y="4160520"/>
            <a:ext cx="2468880" cy="777240"/>
          </a:xfrm>
          <a:prstGeom prst="roundRect">
            <a:avLst>
              <a:gd fmla="val 9412" name="adj"/>
            </a:avLst>
          </a:prstGeom>
          <a:solidFill>
            <a:srgbClr val="DCFCE7"/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70"/>
              <a:buFont typeface="Arial"/>
              <a:buNone/>
            </a:pPr>
            <a:r>
              <a:rPr b="0" i="0" lang="en-US" sz="77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Nurse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70"/>
              <a:buFont typeface="Arial"/>
              <a:buNone/>
            </a:pPr>
            <a:r>
              <a:rPr b="0" i="0" lang="en-US" sz="77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view required items + enter selected observations/vitals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0"/>
          <p:cNvSpPr/>
          <p:nvPr/>
        </p:nvSpPr>
        <p:spPr>
          <a:xfrm>
            <a:off x="9921240" y="4251960"/>
            <a:ext cx="2423160" cy="594360"/>
          </a:xfrm>
          <a:prstGeom prst="roundRect">
            <a:avLst>
              <a:gd fmla="val 12308" name="adj"/>
            </a:avLst>
          </a:prstGeom>
          <a:solidFill>
            <a:srgbClr val="DBEAFE"/>
          </a:solidFill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Pediatrician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child profile + shared maternal context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0"/>
          <p:cNvSpPr/>
          <p:nvPr/>
        </p:nvSpPr>
        <p:spPr>
          <a:xfrm>
            <a:off x="12984480" y="4251960"/>
            <a:ext cx="2331720" cy="594360"/>
          </a:xfrm>
          <a:prstGeom prst="roundRect">
            <a:avLst>
              <a:gd fmla="val 12308" name="adj"/>
            </a:avLst>
          </a:prstGeom>
          <a:solidFill>
            <a:srgbClr val="DCFCE7"/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Allied professionals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section-specific access only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0"/>
          <p:cNvSpPr/>
          <p:nvPr/>
        </p:nvSpPr>
        <p:spPr>
          <a:xfrm>
            <a:off x="5806440" y="5577840"/>
            <a:ext cx="2834640" cy="594360"/>
          </a:xfrm>
          <a:prstGeom prst="roundRect">
            <a:avLst>
              <a:gd fmla="val 12308" name="adj"/>
            </a:avLst>
          </a:prstGeom>
          <a:solidFill>
            <a:srgbClr val="F1F5F9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10"/>
              <a:buFont typeface="Arial"/>
              <a:buNone/>
            </a:pPr>
            <a:r>
              <a:rPr b="0" i="0" lang="en-US" sz="81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Tasks / notes / observations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10"/>
              <a:buFont typeface="Arial"/>
              <a:buNone/>
            </a:pPr>
            <a:r>
              <a:rPr b="0" i="0" lang="en-US" sz="81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entered by named account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9418320" y="5577840"/>
            <a:ext cx="2331720" cy="594360"/>
          </a:xfrm>
          <a:prstGeom prst="roundRect">
            <a:avLst>
              <a:gd fmla="val 12308" name="adj"/>
            </a:avLst>
          </a:prstGeom>
          <a:solidFill>
            <a:srgbClr val="DCFCE7"/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Handover / reassignment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primary owner retained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0"/>
          <p:cNvSpPr/>
          <p:nvPr/>
        </p:nvSpPr>
        <p:spPr>
          <a:xfrm>
            <a:off x="12527280" y="5577840"/>
            <a:ext cx="2468880" cy="594360"/>
          </a:xfrm>
          <a:prstGeom prst="roundRect">
            <a:avLst>
              <a:gd fmla="val 12308" name="adj"/>
            </a:avLst>
          </a:prstGeom>
          <a:solidFill>
            <a:srgbClr val="F1F5F9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Audit trail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who accessed / entered / changed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0"/>
          <p:cNvSpPr/>
          <p:nvPr/>
        </p:nvSpPr>
        <p:spPr>
          <a:xfrm>
            <a:off x="2011680" y="7498080"/>
            <a:ext cx="2743200" cy="594360"/>
          </a:xfrm>
          <a:prstGeom prst="roundRect">
            <a:avLst>
              <a:gd fmla="val 12308" name="adj"/>
            </a:avLst>
          </a:prstGeom>
          <a:solidFill>
            <a:srgbClr val="EDE9FE"/>
          </a:solidFill>
          <a:ln cap="flat" cmpd="sng" w="152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Ongoing connected professional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mother-controlled sharing persists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0"/>
          <p:cNvSpPr/>
          <p:nvPr/>
        </p:nvSpPr>
        <p:spPr>
          <a:xfrm>
            <a:off x="5577840" y="7498080"/>
            <a:ext cx="2697480" cy="594360"/>
          </a:xfrm>
          <a:prstGeom prst="roundRect">
            <a:avLst>
              <a:gd fmla="val 12308" name="adj"/>
            </a:avLst>
          </a:prstGeom>
          <a:solidFill>
            <a:srgbClr val="EDE9FE"/>
          </a:solidFill>
          <a:ln cap="flat" cmpd="sng" w="152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Admission team member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temporary institutional access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0"/>
          <p:cNvSpPr/>
          <p:nvPr/>
        </p:nvSpPr>
        <p:spPr>
          <a:xfrm>
            <a:off x="9098280" y="7498080"/>
            <a:ext cx="2514600" cy="594360"/>
          </a:xfrm>
          <a:prstGeom prst="roundRect">
            <a:avLst>
              <a:gd fmla="val 12308" name="adj"/>
            </a:avLst>
          </a:prstGeom>
          <a:solidFill>
            <a:srgbClr val="DCFCE7"/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At discharge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remove/reduce temporary access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0"/>
          <p:cNvSpPr/>
          <p:nvPr/>
        </p:nvSpPr>
        <p:spPr>
          <a:xfrm>
            <a:off x="12435840" y="7498080"/>
            <a:ext cx="2194560" cy="594360"/>
          </a:xfrm>
          <a:prstGeom prst="roundRect">
            <a:avLst>
              <a:gd fmla="val 12308" name="adj"/>
            </a:avLst>
          </a:prstGeom>
          <a:solidFill>
            <a:srgbClr val="FEE2E2"/>
          </a:solidFill>
          <a:ln cap="flat" cmpd="sng" w="152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Remove from team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no further role access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0"/>
          <p:cNvSpPr/>
          <p:nvPr/>
        </p:nvSpPr>
        <p:spPr>
          <a:xfrm>
            <a:off x="502920" y="9930384"/>
            <a:ext cx="17282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Tinytums V1 — engineering diagram canvas | rounded = workflow action | diamond = decision | cylinder = stored data | dashed = data/access relation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D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BFD"/>
          </a:solidFill>
          <a:ln cap="flat" cmpd="sng" w="12700">
            <a:solidFill>
              <a:srgbClr val="FAFBF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1"/>
          <p:cNvSpPr/>
          <p:nvPr/>
        </p:nvSpPr>
        <p:spPr>
          <a:xfrm>
            <a:off x="384048" y="320040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1"/>
          <p:cNvSpPr/>
          <p:nvPr/>
        </p:nvSpPr>
        <p:spPr>
          <a:xfrm>
            <a:off x="1143000" y="201168"/>
            <a:ext cx="1243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Care Episode / Admission Lifecycle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1"/>
          <p:cNvSpPr/>
          <p:nvPr/>
        </p:nvSpPr>
        <p:spPr>
          <a:xfrm>
            <a:off x="1005840" y="713232"/>
            <a:ext cx="1627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Admission creates a time-bounded institutional care episode with temporary role-based access and a structured discharge transition.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4" name="Google Shape;424;p11"/>
          <p:cNvCxnSpPr/>
          <p:nvPr/>
        </p:nvCxnSpPr>
        <p:spPr>
          <a:xfrm>
            <a:off x="502920" y="1124712"/>
            <a:ext cx="17282160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5" name="Google Shape;425;p11"/>
          <p:cNvSpPr/>
          <p:nvPr/>
        </p:nvSpPr>
        <p:spPr>
          <a:xfrm>
            <a:off x="502920" y="1417320"/>
            <a:ext cx="17282160" cy="1645920"/>
          </a:xfrm>
          <a:prstGeom prst="roundRect">
            <a:avLst>
              <a:gd fmla="val 6667" name="adj"/>
            </a:avLst>
          </a:prstGeom>
          <a:solidFill>
            <a:srgbClr val="CFFAFE">
              <a:alpha val="90196"/>
            </a:srgbClr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1"/>
          <p:cNvSpPr/>
          <p:nvPr/>
        </p:nvSpPr>
        <p:spPr>
          <a:xfrm>
            <a:off x="640080" y="148132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Pre-admission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1"/>
          <p:cNvSpPr/>
          <p:nvPr/>
        </p:nvSpPr>
        <p:spPr>
          <a:xfrm>
            <a:off x="502920" y="3429000"/>
            <a:ext cx="17282160" cy="3108960"/>
          </a:xfrm>
          <a:prstGeom prst="roundRect">
            <a:avLst>
              <a:gd fmla="val 3529" name="adj"/>
            </a:avLst>
          </a:prstGeom>
          <a:solidFill>
            <a:srgbClr val="DCFCE7">
              <a:alpha val="90196"/>
            </a:srgbClr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1"/>
          <p:cNvSpPr/>
          <p:nvPr/>
        </p:nvSpPr>
        <p:spPr>
          <a:xfrm>
            <a:off x="640080" y="349300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Active admission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1"/>
          <p:cNvSpPr/>
          <p:nvPr/>
        </p:nvSpPr>
        <p:spPr>
          <a:xfrm>
            <a:off x="502920" y="6903720"/>
            <a:ext cx="17282160" cy="2194560"/>
          </a:xfrm>
          <a:prstGeom prst="roundRect">
            <a:avLst>
              <a:gd fmla="val 5000" name="adj"/>
            </a:avLst>
          </a:prstGeom>
          <a:solidFill>
            <a:srgbClr val="EDE9FE">
              <a:alpha val="90196"/>
            </a:srgbClr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1"/>
          <p:cNvSpPr/>
          <p:nvPr/>
        </p:nvSpPr>
        <p:spPr>
          <a:xfrm>
            <a:off x="640080" y="696772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Discharge + post-discharge access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1" name="Google Shape;431;p11"/>
          <p:cNvCxnSpPr/>
          <p:nvPr/>
        </p:nvCxnSpPr>
        <p:spPr>
          <a:xfrm>
            <a:off x="2788920" y="2171700"/>
            <a:ext cx="59436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2" name="Google Shape;432;p11"/>
          <p:cNvCxnSpPr/>
          <p:nvPr/>
        </p:nvCxnSpPr>
        <p:spPr>
          <a:xfrm>
            <a:off x="5623560" y="2171700"/>
            <a:ext cx="64008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3" name="Google Shape;433;p11"/>
          <p:cNvCxnSpPr/>
          <p:nvPr/>
        </p:nvCxnSpPr>
        <p:spPr>
          <a:xfrm>
            <a:off x="7269480" y="2171700"/>
            <a:ext cx="82296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4" name="Google Shape;434;p11"/>
          <p:cNvCxnSpPr/>
          <p:nvPr/>
        </p:nvCxnSpPr>
        <p:spPr>
          <a:xfrm>
            <a:off x="3703320" y="4480560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5" name="Google Shape;435;p11"/>
          <p:cNvCxnSpPr/>
          <p:nvPr/>
        </p:nvCxnSpPr>
        <p:spPr>
          <a:xfrm>
            <a:off x="7086600" y="4480560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6" name="Google Shape;436;p11"/>
          <p:cNvCxnSpPr/>
          <p:nvPr/>
        </p:nvCxnSpPr>
        <p:spPr>
          <a:xfrm>
            <a:off x="10561320" y="4480560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7" name="Google Shape;437;p11"/>
          <p:cNvCxnSpPr/>
          <p:nvPr/>
        </p:nvCxnSpPr>
        <p:spPr>
          <a:xfrm>
            <a:off x="13670280" y="4480560"/>
            <a:ext cx="73152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8" name="Google Shape;438;p11"/>
          <p:cNvCxnSpPr/>
          <p:nvPr/>
        </p:nvCxnSpPr>
        <p:spPr>
          <a:xfrm>
            <a:off x="13533120" y="5692140"/>
            <a:ext cx="86868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9" name="Google Shape;439;p11"/>
          <p:cNvCxnSpPr/>
          <p:nvPr/>
        </p:nvCxnSpPr>
        <p:spPr>
          <a:xfrm>
            <a:off x="3474720" y="7749540"/>
            <a:ext cx="73152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0" name="Google Shape;440;p11"/>
          <p:cNvCxnSpPr/>
          <p:nvPr/>
        </p:nvCxnSpPr>
        <p:spPr>
          <a:xfrm>
            <a:off x="6675120" y="7749540"/>
            <a:ext cx="77724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1" name="Google Shape;441;p11"/>
          <p:cNvCxnSpPr/>
          <p:nvPr/>
        </p:nvCxnSpPr>
        <p:spPr>
          <a:xfrm>
            <a:off x="9372600" y="7749540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2" name="Google Shape;442;p11"/>
          <p:cNvCxnSpPr/>
          <p:nvPr/>
        </p:nvCxnSpPr>
        <p:spPr>
          <a:xfrm>
            <a:off x="12527280" y="7749540"/>
            <a:ext cx="73152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3" name="Google Shape;443;p11"/>
          <p:cNvCxnSpPr/>
          <p:nvPr/>
        </p:nvCxnSpPr>
        <p:spPr>
          <a:xfrm>
            <a:off x="6766560" y="2606040"/>
            <a:ext cx="0" cy="22860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4" name="Google Shape;444;p11"/>
          <p:cNvCxnSpPr/>
          <p:nvPr/>
        </p:nvCxnSpPr>
        <p:spPr>
          <a:xfrm flipH="1">
            <a:off x="2286000" y="2514600"/>
            <a:ext cx="7223760" cy="164592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5" name="Google Shape;445;p11"/>
          <p:cNvCxnSpPr/>
          <p:nvPr/>
        </p:nvCxnSpPr>
        <p:spPr>
          <a:xfrm>
            <a:off x="15499080" y="4800600"/>
            <a:ext cx="0" cy="59436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6" name="Google Shape;446;p11"/>
          <p:cNvCxnSpPr/>
          <p:nvPr/>
        </p:nvCxnSpPr>
        <p:spPr>
          <a:xfrm>
            <a:off x="12252960" y="4800600"/>
            <a:ext cx="0" cy="59436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7" name="Google Shape;447;p11"/>
          <p:cNvCxnSpPr/>
          <p:nvPr/>
        </p:nvCxnSpPr>
        <p:spPr>
          <a:xfrm flipH="1">
            <a:off x="2743200" y="4800600"/>
            <a:ext cx="6400800" cy="265176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8" name="Google Shape;448;p11"/>
          <p:cNvCxnSpPr/>
          <p:nvPr/>
        </p:nvCxnSpPr>
        <p:spPr>
          <a:xfrm>
            <a:off x="8503920" y="8046720"/>
            <a:ext cx="0" cy="68580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9" name="Google Shape;449;p11"/>
          <p:cNvSpPr/>
          <p:nvPr/>
        </p:nvSpPr>
        <p:spPr>
          <a:xfrm>
            <a:off x="868680" y="1874520"/>
            <a:ext cx="1920240" cy="594360"/>
          </a:xfrm>
          <a:prstGeom prst="roundRect">
            <a:avLst>
              <a:gd fmla="val 12308" name="adj"/>
            </a:avLst>
          </a:prstGeom>
          <a:solidFill>
            <a:srgbClr val="CFFAFE"/>
          </a:solidFill>
          <a:ln cap="flat" cmpd="sng" w="152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Planned admission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from appointment / doctor plan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1"/>
          <p:cNvSpPr/>
          <p:nvPr/>
        </p:nvSpPr>
        <p:spPr>
          <a:xfrm>
            <a:off x="3383280" y="1874520"/>
            <a:ext cx="2240280" cy="594360"/>
          </a:xfrm>
          <a:prstGeom prst="roundRect">
            <a:avLst>
              <a:gd fmla="val 12308" name="adj"/>
            </a:avLst>
          </a:prstGeom>
          <a:solidFill>
            <a:srgbClr val="CCFBF1"/>
          </a:solidFill>
          <a:ln cap="flat" cmpd="sng" w="152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Patient arrives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identity + consent/context check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1"/>
          <p:cNvSpPr/>
          <p:nvPr/>
        </p:nvSpPr>
        <p:spPr>
          <a:xfrm>
            <a:off x="6263640" y="1737360"/>
            <a:ext cx="1005840" cy="868680"/>
          </a:xfrm>
          <a:prstGeom prst="diamond">
            <a:avLst/>
          </a:prstGeom>
          <a:solidFill>
            <a:srgbClr val="FEF3C7"/>
          </a:solidFill>
          <a:ln cap="flat" cmpd="sng" w="152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Admit?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1"/>
          <p:cNvSpPr/>
          <p:nvPr/>
        </p:nvSpPr>
        <p:spPr>
          <a:xfrm>
            <a:off x="8092440" y="1828800"/>
            <a:ext cx="2743200" cy="685800"/>
          </a:xfrm>
          <a:prstGeom prst="roundRect">
            <a:avLst>
              <a:gd fmla="val 10667" name="adj"/>
            </a:avLst>
          </a:prstGeom>
          <a:solidFill>
            <a:srgbClr val="DCFCE7"/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10"/>
              <a:buFont typeface="Arial"/>
              <a:buNone/>
            </a:pPr>
            <a:r>
              <a:rPr b="0" i="0" lang="en-US" sz="81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Create admission care episode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10"/>
              <a:buFont typeface="Arial"/>
              <a:buNone/>
            </a:pPr>
            <a:r>
              <a:rPr b="0" i="0" lang="en-US" sz="81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start time + institution + primary doctor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1"/>
          <p:cNvSpPr/>
          <p:nvPr/>
        </p:nvSpPr>
        <p:spPr>
          <a:xfrm>
            <a:off x="5715000" y="2834640"/>
            <a:ext cx="1920240" cy="548640"/>
          </a:xfrm>
          <a:prstGeom prst="roundRect">
            <a:avLst>
              <a:gd fmla="val 13333" name="adj"/>
            </a:avLst>
          </a:prstGeom>
          <a:solidFill>
            <a:srgbClr val="F1F5F9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Cancelled / outpatient path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1"/>
          <p:cNvSpPr/>
          <p:nvPr/>
        </p:nvSpPr>
        <p:spPr>
          <a:xfrm>
            <a:off x="960120" y="4160520"/>
            <a:ext cx="2743200" cy="640080"/>
          </a:xfrm>
          <a:prstGeom prst="roundRect">
            <a:avLst>
              <a:gd fmla="val 11429" name="adj"/>
            </a:avLst>
          </a:prstGeom>
          <a:solidFill>
            <a:srgbClr val="DCFCE7"/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Assign authorised staff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primary OBGY + junior + nurse + allied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1"/>
          <p:cNvSpPr/>
          <p:nvPr/>
        </p:nvSpPr>
        <p:spPr>
          <a:xfrm>
            <a:off x="4389120" y="4160520"/>
            <a:ext cx="2697480" cy="640080"/>
          </a:xfrm>
          <a:prstGeom prst="roundRect">
            <a:avLst>
              <a:gd fmla="val 11429" name="adj"/>
            </a:avLst>
          </a:prstGeom>
          <a:solidFill>
            <a:srgbClr val="EDE9FE"/>
          </a:solidFill>
          <a:ln cap="flat" cmpd="sng" w="152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Grant temporary role access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without repeated mother approval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1"/>
          <p:cNvSpPr/>
          <p:nvPr/>
        </p:nvSpPr>
        <p:spPr>
          <a:xfrm>
            <a:off x="7772400" y="4160520"/>
            <a:ext cx="2788920" cy="640080"/>
          </a:xfrm>
          <a:prstGeom prst="roundRect">
            <a:avLst>
              <a:gd fmla="val 11429" name="adj"/>
            </a:avLst>
          </a:prstGeom>
          <a:solidFill>
            <a:srgbClr val="F1F5F9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Admission chart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diagnosis, notes, vitals, reports, orders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1"/>
          <p:cNvSpPr/>
          <p:nvPr/>
        </p:nvSpPr>
        <p:spPr>
          <a:xfrm>
            <a:off x="11247120" y="4160520"/>
            <a:ext cx="2423160" cy="640080"/>
          </a:xfrm>
          <a:prstGeom prst="roundRect">
            <a:avLst>
              <a:gd fmla="val 11429" name="adj"/>
            </a:avLst>
          </a:prstGeom>
          <a:solidFill>
            <a:srgbClr val="DBEAFE"/>
          </a:solidFill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Care delivery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rounds, observations, documents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1"/>
          <p:cNvSpPr/>
          <p:nvPr/>
        </p:nvSpPr>
        <p:spPr>
          <a:xfrm>
            <a:off x="14401800" y="4160520"/>
            <a:ext cx="2377440" cy="640080"/>
          </a:xfrm>
          <a:prstGeom prst="roundRect">
            <a:avLst>
              <a:gd fmla="val 11429" name="adj"/>
            </a:avLst>
          </a:prstGeom>
          <a:solidFill>
            <a:srgbClr val="DCFCE7"/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Care-team changes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add / remove / reassign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1"/>
          <p:cNvSpPr/>
          <p:nvPr/>
        </p:nvSpPr>
        <p:spPr>
          <a:xfrm>
            <a:off x="11155680" y="5394960"/>
            <a:ext cx="2377440" cy="594360"/>
          </a:xfrm>
          <a:prstGeom prst="roundRect">
            <a:avLst>
              <a:gd fmla="val 12308" name="adj"/>
            </a:avLst>
          </a:prstGeom>
          <a:solidFill>
            <a:srgbClr val="FEF3C7"/>
          </a:solidFill>
          <a:ln cap="flat" cmpd="sng" w="152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Transfer / escalation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new context if needed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1"/>
          <p:cNvSpPr/>
          <p:nvPr/>
        </p:nvSpPr>
        <p:spPr>
          <a:xfrm>
            <a:off x="14401800" y="5394960"/>
            <a:ext cx="2377440" cy="594360"/>
          </a:xfrm>
          <a:prstGeom prst="roundRect">
            <a:avLst>
              <a:gd fmla="val 12308" name="adj"/>
            </a:avLst>
          </a:prstGeom>
          <a:solidFill>
            <a:srgbClr val="DCFCE7"/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Readmission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new or linked episode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1"/>
          <p:cNvSpPr/>
          <p:nvPr/>
        </p:nvSpPr>
        <p:spPr>
          <a:xfrm>
            <a:off x="1828800" y="7452360"/>
            <a:ext cx="1645920" cy="594360"/>
          </a:xfrm>
          <a:prstGeom prst="roundRect">
            <a:avLst>
              <a:gd fmla="val 12308" name="adj"/>
            </a:avLst>
          </a:prstGeom>
          <a:solidFill>
            <a:srgbClr val="DCFCE7"/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Discharge planned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1"/>
          <p:cNvSpPr/>
          <p:nvPr/>
        </p:nvSpPr>
        <p:spPr>
          <a:xfrm>
            <a:off x="4206240" y="7452360"/>
            <a:ext cx="2468880" cy="594360"/>
          </a:xfrm>
          <a:prstGeom prst="roundRect">
            <a:avLst>
              <a:gd fmla="val 12308" name="adj"/>
            </a:avLst>
          </a:prstGeom>
          <a:solidFill>
            <a:srgbClr val="DBEAFE"/>
          </a:solidFill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Discharge summary / advice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clinician-created document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1"/>
          <p:cNvSpPr/>
          <p:nvPr/>
        </p:nvSpPr>
        <p:spPr>
          <a:xfrm>
            <a:off x="7452360" y="7452360"/>
            <a:ext cx="1920240" cy="594360"/>
          </a:xfrm>
          <a:prstGeom prst="roundRect">
            <a:avLst>
              <a:gd fmla="val 12308" name="adj"/>
            </a:avLst>
          </a:prstGeom>
          <a:solidFill>
            <a:srgbClr val="DCFCE7"/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Close episode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end time + status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1"/>
          <p:cNvSpPr/>
          <p:nvPr/>
        </p:nvSpPr>
        <p:spPr>
          <a:xfrm>
            <a:off x="10058400" y="7452360"/>
            <a:ext cx="2468880" cy="594360"/>
          </a:xfrm>
          <a:prstGeom prst="roundRect">
            <a:avLst>
              <a:gd fmla="val 12308" name="adj"/>
            </a:avLst>
          </a:prstGeom>
          <a:solidFill>
            <a:srgbClr val="EDE9FE"/>
          </a:solidFill>
          <a:ln cap="flat" cmpd="sng" w="152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End/reduce temporary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admission-team access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1"/>
          <p:cNvSpPr/>
          <p:nvPr/>
        </p:nvSpPr>
        <p:spPr>
          <a:xfrm>
            <a:off x="13258800" y="7452360"/>
            <a:ext cx="2743200" cy="594360"/>
          </a:xfrm>
          <a:prstGeom prst="roundRect">
            <a:avLst>
              <a:gd fmla="val 12308" name="adj"/>
            </a:avLst>
          </a:prstGeom>
          <a:solidFill>
            <a:srgbClr val="EDE9FE"/>
          </a:solidFill>
          <a:ln cap="flat" cmpd="sng" w="152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10"/>
              <a:buFont typeface="Arial"/>
              <a:buNone/>
            </a:pPr>
            <a:r>
              <a:rPr b="0" i="0" lang="en-US" sz="81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Ongoing access only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10"/>
              <a:buFont typeface="Arial"/>
              <a:buNone/>
            </a:pPr>
            <a:r>
              <a:rPr b="0" i="0" lang="en-US" sz="81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individual clinician + mother sharing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1"/>
          <p:cNvSpPr/>
          <p:nvPr/>
        </p:nvSpPr>
        <p:spPr>
          <a:xfrm>
            <a:off x="6537960" y="8732520"/>
            <a:ext cx="4023360" cy="548640"/>
          </a:xfrm>
          <a:prstGeom prst="roundRect">
            <a:avLst>
              <a:gd fmla="val 13333" name="adj"/>
            </a:avLst>
          </a:prstGeom>
          <a:solidFill>
            <a:srgbClr val="F1F5F9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Audit every sensitive action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assignment, access, notes, discharge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1"/>
          <p:cNvSpPr/>
          <p:nvPr/>
        </p:nvSpPr>
        <p:spPr>
          <a:xfrm>
            <a:off x="502920" y="9930384"/>
            <a:ext cx="17282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Tinytums V1 — engineering diagram canvas | rounded = workflow action | diamond = decision | cylinder = stored data | dashed = data/access relation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D"/>
        </a:solid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BFD"/>
          </a:solidFill>
          <a:ln cap="flat" cmpd="sng" w="12700">
            <a:solidFill>
              <a:srgbClr val="FAFBF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2"/>
          <p:cNvSpPr/>
          <p:nvPr/>
        </p:nvSpPr>
        <p:spPr>
          <a:xfrm>
            <a:off x="384048" y="320040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2"/>
          <p:cNvSpPr/>
          <p:nvPr/>
        </p:nvSpPr>
        <p:spPr>
          <a:xfrm>
            <a:off x="1143000" y="201168"/>
            <a:ext cx="1243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Consent, Sharing &amp; Role-Based Access Control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2"/>
          <p:cNvSpPr/>
          <p:nvPr/>
        </p:nvSpPr>
        <p:spPr>
          <a:xfrm>
            <a:off x="1005840" y="713232"/>
            <a:ext cx="1627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Central permission engine: evaluate actor, relationship, institution context, role, consent scope, episode state, and requested resource.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7" name="Google Shape;477;p12"/>
          <p:cNvCxnSpPr/>
          <p:nvPr/>
        </p:nvCxnSpPr>
        <p:spPr>
          <a:xfrm>
            <a:off x="502920" y="1124712"/>
            <a:ext cx="17282160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8" name="Google Shape;478;p12"/>
          <p:cNvCxnSpPr/>
          <p:nvPr/>
        </p:nvCxnSpPr>
        <p:spPr>
          <a:xfrm>
            <a:off x="3246120" y="2171700"/>
            <a:ext cx="54864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9" name="Google Shape;479;p12"/>
          <p:cNvCxnSpPr/>
          <p:nvPr/>
        </p:nvCxnSpPr>
        <p:spPr>
          <a:xfrm>
            <a:off x="5897880" y="2171700"/>
            <a:ext cx="54864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0" name="Google Shape;480;p12"/>
          <p:cNvCxnSpPr/>
          <p:nvPr/>
        </p:nvCxnSpPr>
        <p:spPr>
          <a:xfrm>
            <a:off x="8595360" y="2171700"/>
            <a:ext cx="54864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1" name="Google Shape;481;p12"/>
          <p:cNvCxnSpPr/>
          <p:nvPr/>
        </p:nvCxnSpPr>
        <p:spPr>
          <a:xfrm>
            <a:off x="11658600" y="2171700"/>
            <a:ext cx="54864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2" name="Google Shape;482;p12"/>
          <p:cNvCxnSpPr/>
          <p:nvPr/>
        </p:nvCxnSpPr>
        <p:spPr>
          <a:xfrm>
            <a:off x="14538960" y="2171700"/>
            <a:ext cx="50292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3" name="Google Shape;483;p12"/>
          <p:cNvCxnSpPr/>
          <p:nvPr/>
        </p:nvCxnSpPr>
        <p:spPr>
          <a:xfrm>
            <a:off x="2057400" y="2514600"/>
            <a:ext cx="6995160" cy="1463040"/>
          </a:xfrm>
          <a:prstGeom prst="straightConnector1">
            <a:avLst/>
          </a:prstGeom>
          <a:noFill/>
          <a:ln cap="flat" cmpd="sng" w="101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4" name="Google Shape;484;p12"/>
          <p:cNvCxnSpPr/>
          <p:nvPr/>
        </p:nvCxnSpPr>
        <p:spPr>
          <a:xfrm>
            <a:off x="4846320" y="2514600"/>
            <a:ext cx="4206240" cy="1463040"/>
          </a:xfrm>
          <a:prstGeom prst="straightConnector1">
            <a:avLst/>
          </a:prstGeom>
          <a:noFill/>
          <a:ln cap="flat" cmpd="sng" w="101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5" name="Google Shape;485;p12"/>
          <p:cNvCxnSpPr/>
          <p:nvPr/>
        </p:nvCxnSpPr>
        <p:spPr>
          <a:xfrm>
            <a:off x="7520940" y="2514600"/>
            <a:ext cx="1531620" cy="1463040"/>
          </a:xfrm>
          <a:prstGeom prst="straightConnector1">
            <a:avLst/>
          </a:prstGeom>
          <a:noFill/>
          <a:ln cap="flat" cmpd="sng" w="101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6" name="Google Shape;486;p12"/>
          <p:cNvCxnSpPr/>
          <p:nvPr/>
        </p:nvCxnSpPr>
        <p:spPr>
          <a:xfrm flipH="1">
            <a:off x="9052560" y="2514600"/>
            <a:ext cx="1348740" cy="1463040"/>
          </a:xfrm>
          <a:prstGeom prst="straightConnector1">
            <a:avLst/>
          </a:prstGeom>
          <a:noFill/>
          <a:ln cap="flat" cmpd="sng" w="101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7" name="Google Shape;487;p12"/>
          <p:cNvCxnSpPr/>
          <p:nvPr/>
        </p:nvCxnSpPr>
        <p:spPr>
          <a:xfrm flipH="1">
            <a:off x="9052560" y="2514600"/>
            <a:ext cx="4320540" cy="1463040"/>
          </a:xfrm>
          <a:prstGeom prst="straightConnector1">
            <a:avLst/>
          </a:prstGeom>
          <a:noFill/>
          <a:ln cap="flat" cmpd="sng" w="101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8" name="Google Shape;488;p12"/>
          <p:cNvCxnSpPr/>
          <p:nvPr/>
        </p:nvCxnSpPr>
        <p:spPr>
          <a:xfrm flipH="1">
            <a:off x="9052560" y="2514600"/>
            <a:ext cx="7178040" cy="1463040"/>
          </a:xfrm>
          <a:prstGeom prst="straightConnector1">
            <a:avLst/>
          </a:prstGeom>
          <a:noFill/>
          <a:ln cap="flat" cmpd="sng" w="101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9" name="Google Shape;489;p12"/>
          <p:cNvCxnSpPr/>
          <p:nvPr/>
        </p:nvCxnSpPr>
        <p:spPr>
          <a:xfrm flipH="1">
            <a:off x="3931920" y="4754880"/>
            <a:ext cx="5120640" cy="118872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90" name="Google Shape;490;p12"/>
          <p:cNvCxnSpPr/>
          <p:nvPr/>
        </p:nvCxnSpPr>
        <p:spPr>
          <a:xfrm flipH="1">
            <a:off x="7635240" y="4754880"/>
            <a:ext cx="1417320" cy="118872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91" name="Google Shape;491;p12"/>
          <p:cNvCxnSpPr/>
          <p:nvPr/>
        </p:nvCxnSpPr>
        <p:spPr>
          <a:xfrm>
            <a:off x="9052560" y="4754880"/>
            <a:ext cx="2560320" cy="118872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92" name="Google Shape;492;p12"/>
          <p:cNvCxnSpPr/>
          <p:nvPr/>
        </p:nvCxnSpPr>
        <p:spPr>
          <a:xfrm>
            <a:off x="9052560" y="4754880"/>
            <a:ext cx="6172200" cy="118872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3" name="Google Shape;493;p12"/>
          <p:cNvSpPr/>
          <p:nvPr/>
        </p:nvSpPr>
        <p:spPr>
          <a:xfrm>
            <a:off x="868680" y="1828800"/>
            <a:ext cx="2377440" cy="685800"/>
          </a:xfrm>
          <a:prstGeom prst="roundRect">
            <a:avLst>
              <a:gd fmla="val 10667" name="adj"/>
            </a:avLst>
          </a:prstGeom>
          <a:solidFill>
            <a:srgbClr val="EDE9FE"/>
          </a:solidFill>
          <a:ln cap="flat" cmpd="sng" w="152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Actor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Mother / caregiver / doctor / nurse / admin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2"/>
          <p:cNvSpPr/>
          <p:nvPr/>
        </p:nvSpPr>
        <p:spPr>
          <a:xfrm>
            <a:off x="3794760" y="1828800"/>
            <a:ext cx="2103120" cy="685800"/>
          </a:xfrm>
          <a:prstGeom prst="roundRect">
            <a:avLst>
              <a:gd fmla="val 10667" name="adj"/>
            </a:avLst>
          </a:prstGeom>
          <a:solidFill>
            <a:srgbClr val="F1F5F9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Authenticated identity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individual named account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2"/>
          <p:cNvSpPr/>
          <p:nvPr/>
        </p:nvSpPr>
        <p:spPr>
          <a:xfrm>
            <a:off x="6446520" y="1828800"/>
            <a:ext cx="2148840" cy="685800"/>
          </a:xfrm>
          <a:prstGeom prst="roundRect">
            <a:avLst>
              <a:gd fmla="val 10667" name="adj"/>
            </a:avLst>
          </a:prstGeom>
          <a:solidFill>
            <a:srgbClr val="CCFBF1"/>
          </a:solidFill>
          <a:ln cap="flat" cmpd="sng" w="152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Institution / external / admission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2"/>
          <p:cNvSpPr/>
          <p:nvPr/>
        </p:nvSpPr>
        <p:spPr>
          <a:xfrm>
            <a:off x="9144000" y="1828800"/>
            <a:ext cx="2514600" cy="685800"/>
          </a:xfrm>
          <a:prstGeom prst="roundRect">
            <a:avLst>
              <a:gd fmla="val 10667" name="adj"/>
            </a:avLst>
          </a:prstGeom>
          <a:solidFill>
            <a:srgbClr val="CFFAFE"/>
          </a:solidFill>
          <a:ln cap="flat" cmpd="sng" w="152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Care relationship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Doctor X @ Institution Y / caregiver link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2"/>
          <p:cNvSpPr/>
          <p:nvPr/>
        </p:nvSpPr>
        <p:spPr>
          <a:xfrm>
            <a:off x="12207240" y="1828800"/>
            <a:ext cx="2331720" cy="685800"/>
          </a:xfrm>
          <a:prstGeom prst="roundRect">
            <a:avLst>
              <a:gd fmla="val 10667" name="adj"/>
            </a:avLst>
          </a:prstGeom>
          <a:solidFill>
            <a:srgbClr val="FCE7F3"/>
          </a:solidFill>
          <a:ln cap="flat" cmpd="sng" w="15225">
            <a:solidFill>
              <a:srgbClr val="DB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10"/>
              <a:buFont typeface="Arial"/>
              <a:buNone/>
            </a:pPr>
            <a:r>
              <a:rPr b="0" i="0" lang="en-US" sz="81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Consent scope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10"/>
              <a:buFont typeface="Arial"/>
              <a:buNone/>
            </a:pPr>
            <a:r>
              <a:rPr b="0" i="0" lang="en-US" sz="81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sections, duration, revocation state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2"/>
          <p:cNvSpPr/>
          <p:nvPr/>
        </p:nvSpPr>
        <p:spPr>
          <a:xfrm>
            <a:off x="15041880" y="1828800"/>
            <a:ext cx="2377440" cy="685800"/>
          </a:xfrm>
          <a:prstGeom prst="roundRect">
            <a:avLst>
              <a:gd fmla="val 10667" name="adj"/>
            </a:avLst>
          </a:prstGeom>
          <a:solidFill>
            <a:srgbClr val="F1F5F9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Requested resource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field / document / episode / summary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2"/>
          <p:cNvSpPr/>
          <p:nvPr/>
        </p:nvSpPr>
        <p:spPr>
          <a:xfrm>
            <a:off x="5897880" y="3977640"/>
            <a:ext cx="6309360" cy="777240"/>
          </a:xfrm>
          <a:prstGeom prst="roundRect">
            <a:avLst>
              <a:gd fmla="val 9412" name="adj"/>
            </a:avLst>
          </a:prstGeom>
          <a:solidFill>
            <a:srgbClr val="EDE9FE"/>
          </a:solidFill>
          <a:ln cap="flat" cmpd="sng" w="152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Permission decision engine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minimum-necessary + purpose-appropriate access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2"/>
          <p:cNvSpPr/>
          <p:nvPr/>
        </p:nvSpPr>
        <p:spPr>
          <a:xfrm>
            <a:off x="2926080" y="5943600"/>
            <a:ext cx="2011680" cy="914400"/>
          </a:xfrm>
          <a:prstGeom prst="roundRect">
            <a:avLst>
              <a:gd fmla="val 8000" name="adj"/>
            </a:avLst>
          </a:prstGeom>
          <a:solidFill>
            <a:srgbClr val="DCFCE7"/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ALLOW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show / enter / verify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according to role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12"/>
          <p:cNvSpPr/>
          <p:nvPr/>
        </p:nvSpPr>
        <p:spPr>
          <a:xfrm>
            <a:off x="6400800" y="5943600"/>
            <a:ext cx="2468880" cy="914400"/>
          </a:xfrm>
          <a:prstGeom prst="roundRect">
            <a:avLst>
              <a:gd fmla="val 8000" name="adj"/>
            </a:avLst>
          </a:prstGeom>
          <a:solidFill>
            <a:srgbClr val="FEE2E2"/>
          </a:solidFill>
          <a:ln cap="flat" cmpd="sng" w="152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30"/>
              <a:buFont typeface="Arial"/>
              <a:buNone/>
            </a:pPr>
            <a:r>
              <a:rPr b="0" i="0" lang="en-US" sz="83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DENY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30"/>
              <a:buFont typeface="Arial"/>
              <a:buNone/>
            </a:pPr>
            <a:r>
              <a:rPr b="0" i="0" lang="en-US" sz="83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not shared / wrong institution / expired / inappropriate role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2"/>
          <p:cNvSpPr/>
          <p:nvPr/>
        </p:nvSpPr>
        <p:spPr>
          <a:xfrm>
            <a:off x="10332720" y="5943600"/>
            <a:ext cx="2560320" cy="914400"/>
          </a:xfrm>
          <a:prstGeom prst="roundRect">
            <a:avLst>
              <a:gd fmla="val 8000" name="adj"/>
            </a:avLst>
          </a:prstGeom>
          <a:solidFill>
            <a:srgbClr val="EDE9FE"/>
          </a:solidFill>
          <a:ln cap="flat" cmpd="sng" w="152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30"/>
              <a:buFont typeface="Arial"/>
              <a:buNone/>
            </a:pPr>
            <a:r>
              <a:rPr b="0" i="0" lang="en-US" sz="83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LIMIT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30"/>
              <a:buFont typeface="Arial"/>
              <a:buNone/>
            </a:pPr>
            <a:r>
              <a:rPr b="0" i="0" lang="en-US" sz="83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read-only / masked / section-specific / temporary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2"/>
          <p:cNvSpPr/>
          <p:nvPr/>
        </p:nvSpPr>
        <p:spPr>
          <a:xfrm>
            <a:off x="13944600" y="5943600"/>
            <a:ext cx="2560320" cy="914400"/>
          </a:xfrm>
          <a:prstGeom prst="roundRect">
            <a:avLst>
              <a:gd fmla="val 8000" name="adj"/>
            </a:avLst>
          </a:prstGeom>
          <a:solidFill>
            <a:srgbClr val="F1F5F9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30"/>
              <a:buFont typeface="Arial"/>
              <a:buNone/>
            </a:pPr>
            <a:r>
              <a:rPr b="0" i="0" lang="en-US" sz="83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Audit event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30"/>
              <a:buFont typeface="Arial"/>
              <a:buNone/>
            </a:pPr>
            <a:r>
              <a:rPr b="0" i="0" lang="en-US" sz="83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who, when, context, resource, action, outcome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2"/>
          <p:cNvSpPr/>
          <p:nvPr/>
        </p:nvSpPr>
        <p:spPr>
          <a:xfrm>
            <a:off x="1828800" y="7909560"/>
            <a:ext cx="658368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15225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39"/>
              <a:buFont typeface="Arial"/>
              <a:buNone/>
            </a:pPr>
            <a:r>
              <a:rPr b="0" i="0" lang="en-US" sz="84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Key V1 rules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39"/>
              <a:buFont typeface="Arial"/>
              <a:buNone/>
            </a:pPr>
            <a:r>
              <a:rPr b="0" i="0" lang="en-US" sz="84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Mother controls ongoing sharing with caregivers and external/connected professionals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39"/>
              <a:buFont typeface="Arial"/>
              <a:buNone/>
            </a:pPr>
            <a:r>
              <a:rPr b="0" i="0" lang="en-US" sz="84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Active admission permits authorised institutional staff access via the episode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39"/>
              <a:buFont typeface="Arial"/>
              <a:buNone/>
            </a:pPr>
            <a:r>
              <a:rPr b="0" i="0" lang="en-US" sz="84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Caregiver is read-only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39"/>
              <a:buFont typeface="Arial"/>
              <a:buNone/>
            </a:pPr>
            <a:r>
              <a:rPr b="0" i="0" lang="en-US" sz="84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Discharge removes/reduces temporary team access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39"/>
              <a:buFont typeface="Arial"/>
              <a:buNone/>
            </a:pPr>
            <a:r>
              <a:rPr b="0" i="0" lang="en-US" sz="84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Verified clinical fields cannot be silently overwritten by mother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2"/>
          <p:cNvSpPr/>
          <p:nvPr/>
        </p:nvSpPr>
        <p:spPr>
          <a:xfrm>
            <a:off x="10058400" y="7909560"/>
            <a:ext cx="6309360" cy="960120"/>
          </a:xfrm>
          <a:prstGeom prst="roundRect">
            <a:avLst>
              <a:gd fmla="val 7619" name="adj"/>
            </a:avLst>
          </a:prstGeom>
          <a:solidFill>
            <a:srgbClr val="FEE2E2"/>
          </a:solidFill>
          <a:ln cap="flat" cmpd="sng" w="152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39"/>
              <a:buFont typeface="Arial"/>
              <a:buNone/>
            </a:pPr>
            <a:r>
              <a:rPr b="0" i="0" lang="en-US" sz="84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TBD for implementation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39"/>
              <a:buFont typeface="Arial"/>
              <a:buNone/>
            </a:pPr>
            <a:r>
              <a:rPr b="0" i="0" lang="en-US" sz="84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Final permission matrix, data-retention rules, detailed consent language, legal/security review.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2"/>
          <p:cNvSpPr/>
          <p:nvPr/>
        </p:nvSpPr>
        <p:spPr>
          <a:xfrm>
            <a:off x="502920" y="9930384"/>
            <a:ext cx="17282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Tinytums V1 — engineering diagram canvas | rounded = workflow action | diamond = decision | cylinder = stored data | dashed = data/access relation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D"/>
        </a:soli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BFD"/>
          </a:solidFill>
          <a:ln cap="flat" cmpd="sng" w="12700">
            <a:solidFill>
              <a:srgbClr val="FAFBF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3"/>
          <p:cNvSpPr/>
          <p:nvPr/>
        </p:nvSpPr>
        <p:spPr>
          <a:xfrm>
            <a:off x="384048" y="320040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3"/>
          <p:cNvSpPr/>
          <p:nvPr/>
        </p:nvSpPr>
        <p:spPr>
          <a:xfrm>
            <a:off x="1143000" y="201168"/>
            <a:ext cx="1243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Maternal–Child Longitudinal Data Model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3"/>
          <p:cNvSpPr/>
          <p:nvPr/>
        </p:nvSpPr>
        <p:spPr>
          <a:xfrm>
            <a:off x="1005840" y="713232"/>
            <a:ext cx="1627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High-level relationship model: mother owns the consumer account; clinical episodes and child profiles remain linked longitudinally.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6" name="Google Shape;516;p13"/>
          <p:cNvCxnSpPr/>
          <p:nvPr/>
        </p:nvCxnSpPr>
        <p:spPr>
          <a:xfrm>
            <a:off x="502920" y="1124712"/>
            <a:ext cx="17282160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7" name="Google Shape;517;p13"/>
          <p:cNvCxnSpPr/>
          <p:nvPr/>
        </p:nvCxnSpPr>
        <p:spPr>
          <a:xfrm>
            <a:off x="9144000" y="2148840"/>
            <a:ext cx="0" cy="59436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18" name="Google Shape;518;p13"/>
          <p:cNvCxnSpPr/>
          <p:nvPr/>
        </p:nvCxnSpPr>
        <p:spPr>
          <a:xfrm flipH="1">
            <a:off x="2560320" y="3566160"/>
            <a:ext cx="6583680" cy="68580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19" name="Google Shape;519;p13"/>
          <p:cNvCxnSpPr/>
          <p:nvPr/>
        </p:nvCxnSpPr>
        <p:spPr>
          <a:xfrm flipH="1">
            <a:off x="6400800" y="3566160"/>
            <a:ext cx="2743200" cy="68580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0" name="Google Shape;520;p13"/>
          <p:cNvCxnSpPr/>
          <p:nvPr/>
        </p:nvCxnSpPr>
        <p:spPr>
          <a:xfrm>
            <a:off x="9144000" y="3566160"/>
            <a:ext cx="1645920" cy="68580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1" name="Google Shape;521;p13"/>
          <p:cNvCxnSpPr/>
          <p:nvPr/>
        </p:nvCxnSpPr>
        <p:spPr>
          <a:xfrm>
            <a:off x="9144000" y="3566160"/>
            <a:ext cx="6035040" cy="68580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2" name="Google Shape;522;p13"/>
          <p:cNvCxnSpPr/>
          <p:nvPr/>
        </p:nvCxnSpPr>
        <p:spPr>
          <a:xfrm flipH="1">
            <a:off x="2125980" y="4937760"/>
            <a:ext cx="4274820" cy="114300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3" name="Google Shape;523;p13"/>
          <p:cNvCxnSpPr/>
          <p:nvPr/>
        </p:nvCxnSpPr>
        <p:spPr>
          <a:xfrm flipH="1">
            <a:off x="4777740" y="4937760"/>
            <a:ext cx="1623060" cy="114300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4" name="Google Shape;524;p13"/>
          <p:cNvCxnSpPr/>
          <p:nvPr/>
        </p:nvCxnSpPr>
        <p:spPr>
          <a:xfrm flipH="1">
            <a:off x="4777740" y="4937760"/>
            <a:ext cx="10401300" cy="1143000"/>
          </a:xfrm>
          <a:prstGeom prst="straightConnector1">
            <a:avLst/>
          </a:prstGeom>
          <a:noFill/>
          <a:ln cap="flat" cmpd="sng" w="101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5" name="Google Shape;525;p13"/>
          <p:cNvCxnSpPr/>
          <p:nvPr/>
        </p:nvCxnSpPr>
        <p:spPr>
          <a:xfrm>
            <a:off x="6400800" y="4937760"/>
            <a:ext cx="1028700" cy="114300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6" name="Google Shape;526;p13"/>
          <p:cNvCxnSpPr/>
          <p:nvPr/>
        </p:nvCxnSpPr>
        <p:spPr>
          <a:xfrm flipH="1">
            <a:off x="7429500" y="4937760"/>
            <a:ext cx="7749540" cy="1143000"/>
          </a:xfrm>
          <a:prstGeom prst="straightConnector1">
            <a:avLst/>
          </a:prstGeom>
          <a:noFill/>
          <a:ln cap="flat" cmpd="sng" w="101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7" name="Google Shape;527;p13"/>
          <p:cNvCxnSpPr/>
          <p:nvPr/>
        </p:nvCxnSpPr>
        <p:spPr>
          <a:xfrm>
            <a:off x="6400800" y="4937760"/>
            <a:ext cx="3749040" cy="114300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8" name="Google Shape;528;p13"/>
          <p:cNvCxnSpPr/>
          <p:nvPr/>
        </p:nvCxnSpPr>
        <p:spPr>
          <a:xfrm flipH="1">
            <a:off x="10149840" y="4937760"/>
            <a:ext cx="5029200" cy="1143000"/>
          </a:xfrm>
          <a:prstGeom prst="straightConnector1">
            <a:avLst/>
          </a:prstGeom>
          <a:noFill/>
          <a:ln cap="flat" cmpd="sng" w="101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9" name="Google Shape;529;p13"/>
          <p:cNvCxnSpPr/>
          <p:nvPr/>
        </p:nvCxnSpPr>
        <p:spPr>
          <a:xfrm>
            <a:off x="6400800" y="4937760"/>
            <a:ext cx="6446520" cy="114300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30" name="Google Shape;530;p13"/>
          <p:cNvCxnSpPr/>
          <p:nvPr/>
        </p:nvCxnSpPr>
        <p:spPr>
          <a:xfrm flipH="1">
            <a:off x="12847320" y="4937760"/>
            <a:ext cx="2331720" cy="1143000"/>
          </a:xfrm>
          <a:prstGeom prst="straightConnector1">
            <a:avLst/>
          </a:prstGeom>
          <a:noFill/>
          <a:ln cap="flat" cmpd="sng" w="101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31" name="Google Shape;531;p13"/>
          <p:cNvCxnSpPr/>
          <p:nvPr/>
        </p:nvCxnSpPr>
        <p:spPr>
          <a:xfrm>
            <a:off x="6400800" y="4937760"/>
            <a:ext cx="9258300" cy="114300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32" name="Google Shape;532;p13"/>
          <p:cNvCxnSpPr/>
          <p:nvPr/>
        </p:nvCxnSpPr>
        <p:spPr>
          <a:xfrm>
            <a:off x="15179040" y="4937760"/>
            <a:ext cx="480060" cy="1143000"/>
          </a:xfrm>
          <a:prstGeom prst="straightConnector1">
            <a:avLst/>
          </a:prstGeom>
          <a:noFill/>
          <a:ln cap="flat" cmpd="sng" w="101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33" name="Google Shape;533;p13"/>
          <p:cNvCxnSpPr/>
          <p:nvPr/>
        </p:nvCxnSpPr>
        <p:spPr>
          <a:xfrm flipH="1">
            <a:off x="5257800" y="6675120"/>
            <a:ext cx="3886200" cy="118872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34" name="Google Shape;534;p13"/>
          <p:cNvCxnSpPr/>
          <p:nvPr/>
        </p:nvCxnSpPr>
        <p:spPr>
          <a:xfrm>
            <a:off x="9144000" y="6675120"/>
            <a:ext cx="1508760" cy="118872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35" name="Google Shape;535;p13"/>
          <p:cNvCxnSpPr/>
          <p:nvPr/>
        </p:nvCxnSpPr>
        <p:spPr>
          <a:xfrm>
            <a:off x="9144000" y="6675120"/>
            <a:ext cx="6126480" cy="118872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36" name="Google Shape;536;p13"/>
          <p:cNvSpPr/>
          <p:nvPr/>
        </p:nvSpPr>
        <p:spPr>
          <a:xfrm>
            <a:off x="7498080" y="1508760"/>
            <a:ext cx="3291840" cy="640080"/>
          </a:xfrm>
          <a:prstGeom prst="roundRect">
            <a:avLst>
              <a:gd fmla="val 11429" name="adj"/>
            </a:avLst>
          </a:prstGeom>
          <a:solidFill>
            <a:srgbClr val="FCE7F3"/>
          </a:solidFill>
          <a:ln cap="flat" cmpd="sng" w="15225">
            <a:solidFill>
              <a:srgbClr val="DB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User Account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Mother owner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3"/>
          <p:cNvSpPr/>
          <p:nvPr/>
        </p:nvSpPr>
        <p:spPr>
          <a:xfrm>
            <a:off x="6217920" y="2743200"/>
            <a:ext cx="5852160" cy="822960"/>
          </a:xfrm>
          <a:prstGeom prst="roundRect">
            <a:avLst>
              <a:gd fmla="val 8889" name="adj"/>
            </a:avLst>
          </a:prstGeom>
          <a:solidFill>
            <a:srgbClr val="F1F5F9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10"/>
              <a:buFont typeface="Arial"/>
              <a:buNone/>
            </a:pPr>
            <a:r>
              <a:rPr b="0" i="0" lang="en-US" sz="81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Maternal Master Profile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10"/>
              <a:buFont typeface="Arial"/>
              <a:buNone/>
            </a:pPr>
            <a:r>
              <a:rPr b="0" i="0" lang="en-US" sz="81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identity, blood group/Rh, allergies, chronic conditions, obstetric history, medicines, nutrition, mental health, future planning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3"/>
          <p:cNvSpPr/>
          <p:nvPr/>
        </p:nvSpPr>
        <p:spPr>
          <a:xfrm>
            <a:off x="1097280" y="4251960"/>
            <a:ext cx="2926080" cy="685800"/>
          </a:xfrm>
          <a:prstGeom prst="roundRect">
            <a:avLst>
              <a:gd fmla="val 10667" name="adj"/>
            </a:avLst>
          </a:prstGeom>
          <a:solidFill>
            <a:srgbClr val="FCE7F3"/>
          </a:solidFill>
          <a:ln cap="flat" cmpd="sng" w="15225">
            <a:solidFill>
              <a:srgbClr val="DB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Reproductive Journey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TTC / pregnancy / postpartum / ongoing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3"/>
          <p:cNvSpPr/>
          <p:nvPr/>
        </p:nvSpPr>
        <p:spPr>
          <a:xfrm>
            <a:off x="4572000" y="4251960"/>
            <a:ext cx="3657600" cy="685800"/>
          </a:xfrm>
          <a:prstGeom prst="roundRect">
            <a:avLst>
              <a:gd fmla="val 10667" name="adj"/>
            </a:avLst>
          </a:prstGeom>
          <a:solidFill>
            <a:srgbClr val="FCE7F3"/>
          </a:solidFill>
          <a:ln cap="flat" cmpd="sng" w="15225">
            <a:solidFill>
              <a:srgbClr val="DB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10"/>
              <a:buFont typeface="Arial"/>
              <a:buNone/>
            </a:pPr>
            <a:r>
              <a:rPr b="0" i="0" lang="en-US" sz="81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Pregnancy Episode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10"/>
              <a:buFont typeface="Arial"/>
              <a:buNone/>
            </a:pPr>
            <a:r>
              <a:rPr b="0" i="0" lang="en-US" sz="81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LMP, EDD, GA, fetal info, diagnosis, monitoring plan, reports, appointments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3"/>
          <p:cNvSpPr/>
          <p:nvPr/>
        </p:nvSpPr>
        <p:spPr>
          <a:xfrm>
            <a:off x="8778240" y="4251960"/>
            <a:ext cx="4023360" cy="685800"/>
          </a:xfrm>
          <a:prstGeom prst="roundRect">
            <a:avLst>
              <a:gd fmla="val 10667" name="adj"/>
            </a:avLst>
          </a:prstGeom>
          <a:solidFill>
            <a:srgbClr val="FCE7F3"/>
          </a:solidFill>
          <a:ln cap="flat" cmpd="sng" w="15225">
            <a:solidFill>
              <a:srgbClr val="DB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Postpartum / Ongoing Maternal Health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42 days postnatal, ~12 weeks postpartum layer, then ongoing care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3"/>
          <p:cNvSpPr/>
          <p:nvPr/>
        </p:nvSpPr>
        <p:spPr>
          <a:xfrm>
            <a:off x="13350240" y="4251960"/>
            <a:ext cx="3657600" cy="685800"/>
          </a:xfrm>
          <a:prstGeom prst="roundRect">
            <a:avLst>
              <a:gd fmla="val 10667" name="adj"/>
            </a:avLst>
          </a:prstGeom>
          <a:solidFill>
            <a:srgbClr val="FCE7F3"/>
          </a:solidFill>
          <a:ln cap="flat" cmpd="sng" w="15225">
            <a:solidFill>
              <a:srgbClr val="DB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Child Profile(s)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0–7 years; one or more children; twins create multiple child profiles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3"/>
          <p:cNvSpPr/>
          <p:nvPr/>
        </p:nvSpPr>
        <p:spPr>
          <a:xfrm>
            <a:off x="1097280" y="6080760"/>
            <a:ext cx="2057400" cy="594360"/>
          </a:xfrm>
          <a:prstGeom prst="roundRect">
            <a:avLst>
              <a:gd fmla="val 12308" name="adj"/>
            </a:avLst>
          </a:prstGeom>
          <a:solidFill>
            <a:srgbClr val="F1F5F9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Measurements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weight, BP, glucose, vitals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3"/>
          <p:cNvSpPr/>
          <p:nvPr/>
        </p:nvSpPr>
        <p:spPr>
          <a:xfrm>
            <a:off x="3657600" y="6080760"/>
            <a:ext cx="2240280" cy="594360"/>
          </a:xfrm>
          <a:prstGeom prst="roundRect">
            <a:avLst>
              <a:gd fmla="val 12308" name="adj"/>
            </a:avLst>
          </a:prstGeom>
          <a:solidFill>
            <a:srgbClr val="F1F5F9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Documents / Reports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uploaded, clinician reviewed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13"/>
          <p:cNvSpPr/>
          <p:nvPr/>
        </p:nvSpPr>
        <p:spPr>
          <a:xfrm>
            <a:off x="6355080" y="6080760"/>
            <a:ext cx="2148840" cy="594360"/>
          </a:xfrm>
          <a:prstGeom prst="roundRect">
            <a:avLst>
              <a:gd fmla="val 12308" name="adj"/>
            </a:avLst>
          </a:prstGeom>
          <a:solidFill>
            <a:srgbClr val="CFFAFE"/>
          </a:solidFill>
          <a:ln cap="flat" cmpd="sng" w="152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Appointments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visits + teleconsults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3"/>
          <p:cNvSpPr/>
          <p:nvPr/>
        </p:nvSpPr>
        <p:spPr>
          <a:xfrm>
            <a:off x="8961120" y="6080760"/>
            <a:ext cx="2377440" cy="594360"/>
          </a:xfrm>
          <a:prstGeom prst="roundRect">
            <a:avLst>
              <a:gd fmla="val 12308" name="adj"/>
            </a:avLst>
          </a:prstGeom>
          <a:solidFill>
            <a:srgbClr val="DBEAFE"/>
          </a:solidFill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Clinical Records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notes, diagnoses, prescriptions, verification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13"/>
          <p:cNvSpPr/>
          <p:nvPr/>
        </p:nvSpPr>
        <p:spPr>
          <a:xfrm>
            <a:off x="11841480" y="6080760"/>
            <a:ext cx="2011680" cy="594360"/>
          </a:xfrm>
          <a:prstGeom prst="roundRect">
            <a:avLst>
              <a:gd fmla="val 12308" name="adj"/>
            </a:avLst>
          </a:prstGeom>
          <a:solidFill>
            <a:srgbClr val="F1F5F9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Vaccination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records + reminders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3"/>
          <p:cNvSpPr/>
          <p:nvPr/>
        </p:nvSpPr>
        <p:spPr>
          <a:xfrm>
            <a:off x="14401800" y="6080760"/>
            <a:ext cx="2514600" cy="594360"/>
          </a:xfrm>
          <a:prstGeom prst="roundRect">
            <a:avLst>
              <a:gd fmla="val 12308" name="adj"/>
            </a:avLst>
          </a:prstGeom>
          <a:solidFill>
            <a:srgbClr val="F1F5F9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Growth + Milestones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observed, upcoming, activities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13"/>
          <p:cNvSpPr/>
          <p:nvPr/>
        </p:nvSpPr>
        <p:spPr>
          <a:xfrm>
            <a:off x="2834640" y="7863840"/>
            <a:ext cx="4846320" cy="685800"/>
          </a:xfrm>
          <a:prstGeom prst="roundRect">
            <a:avLst>
              <a:gd fmla="val 10667" name="adj"/>
            </a:avLst>
          </a:prstGeom>
          <a:solidFill>
            <a:srgbClr val="EDE9FE"/>
          </a:solidFill>
          <a:ln cap="flat" cmpd="sng" w="152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10"/>
              <a:buFont typeface="Arial"/>
              <a:buNone/>
            </a:pPr>
            <a:r>
              <a:rPr b="0" i="0" lang="en-US" sz="81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Relationships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10"/>
              <a:buFont typeface="Arial"/>
              <a:buNone/>
            </a:pPr>
            <a:r>
              <a:rPr b="0" i="0" lang="en-US" sz="81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Doctor X @ Institution Y; caregiver link; external professionals; care-team assignments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13"/>
          <p:cNvSpPr/>
          <p:nvPr/>
        </p:nvSpPr>
        <p:spPr>
          <a:xfrm>
            <a:off x="8595360" y="7863840"/>
            <a:ext cx="4114800" cy="685800"/>
          </a:xfrm>
          <a:prstGeom prst="roundRect">
            <a:avLst>
              <a:gd fmla="val 10667" name="adj"/>
            </a:avLst>
          </a:prstGeom>
          <a:solidFill>
            <a:srgbClr val="F1F5F9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10"/>
              <a:buFont typeface="Arial"/>
              <a:buNone/>
            </a:pPr>
            <a:r>
              <a:rPr b="0" i="0" lang="en-US" sz="81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Audit + Provenance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10"/>
              <a:buFont typeface="Arial"/>
              <a:buNone/>
            </a:pPr>
            <a:r>
              <a:rPr b="0" i="0" lang="en-US" sz="81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source, actor, timestamp, verified status, correction history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13"/>
          <p:cNvSpPr/>
          <p:nvPr/>
        </p:nvSpPr>
        <p:spPr>
          <a:xfrm>
            <a:off x="13533120" y="7863840"/>
            <a:ext cx="3474720" cy="685800"/>
          </a:xfrm>
          <a:prstGeom prst="roundRect">
            <a:avLst>
              <a:gd fmla="val 10667" name="adj"/>
            </a:avLst>
          </a:prstGeom>
          <a:solidFill>
            <a:srgbClr val="FEE2E2"/>
          </a:solidFill>
          <a:ln cap="flat" cmpd="sng" w="152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Generated Factual Summaries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never replace source data; always drill-downable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13"/>
          <p:cNvSpPr/>
          <p:nvPr/>
        </p:nvSpPr>
        <p:spPr>
          <a:xfrm>
            <a:off x="502920" y="9930384"/>
            <a:ext cx="17282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Tinytums V1 — engineering diagram canvas | rounded = workflow action | diamond = decision | cylinder = stored data | dashed = data/access relation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D"/>
        </a:solidFill>
      </p:bgPr>
    </p:bg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1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BFD"/>
          </a:solidFill>
          <a:ln cap="flat" cmpd="sng" w="12700">
            <a:solidFill>
              <a:srgbClr val="FAFBF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4"/>
          <p:cNvSpPr/>
          <p:nvPr/>
        </p:nvSpPr>
        <p:spPr>
          <a:xfrm>
            <a:off x="384048" y="320040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14"/>
          <p:cNvSpPr/>
          <p:nvPr/>
        </p:nvSpPr>
        <p:spPr>
          <a:xfrm>
            <a:off x="1143000" y="201168"/>
            <a:ext cx="1243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Data Provenance, Verification &amp; Correction Flow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14"/>
          <p:cNvSpPr/>
          <p:nvPr/>
        </p:nvSpPr>
        <p:spPr>
          <a:xfrm>
            <a:off x="1005840" y="713232"/>
            <a:ext cx="1627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Clinically relevant data should preserve source, verified status, version history, and correction requests.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1" name="Google Shape;561;p14"/>
          <p:cNvCxnSpPr/>
          <p:nvPr/>
        </p:nvCxnSpPr>
        <p:spPr>
          <a:xfrm>
            <a:off x="502920" y="1124712"/>
            <a:ext cx="17282160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2" name="Google Shape;562;p14"/>
          <p:cNvSpPr/>
          <p:nvPr/>
        </p:nvSpPr>
        <p:spPr>
          <a:xfrm>
            <a:off x="502920" y="1417320"/>
            <a:ext cx="17282160" cy="1920240"/>
          </a:xfrm>
          <a:prstGeom prst="roundRect">
            <a:avLst>
              <a:gd fmla="val 5714" name="adj"/>
            </a:avLst>
          </a:prstGeom>
          <a:solidFill>
            <a:srgbClr val="F1F5F9">
              <a:alpha val="90196"/>
            </a:srgbClr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4"/>
          <p:cNvSpPr/>
          <p:nvPr/>
        </p:nvSpPr>
        <p:spPr>
          <a:xfrm>
            <a:off x="640080" y="148132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Data enters system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14"/>
          <p:cNvSpPr/>
          <p:nvPr/>
        </p:nvSpPr>
        <p:spPr>
          <a:xfrm>
            <a:off x="502920" y="3611880"/>
            <a:ext cx="17282160" cy="2194560"/>
          </a:xfrm>
          <a:prstGeom prst="roundRect">
            <a:avLst>
              <a:gd fmla="val 5000" name="adj"/>
            </a:avLst>
          </a:prstGeom>
          <a:solidFill>
            <a:srgbClr val="DBEAFE">
              <a:alpha val="90196"/>
            </a:srgbClr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4"/>
          <p:cNvSpPr/>
          <p:nvPr/>
        </p:nvSpPr>
        <p:spPr>
          <a:xfrm>
            <a:off x="640080" y="367588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Clinical review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14"/>
          <p:cNvSpPr/>
          <p:nvPr/>
        </p:nvSpPr>
        <p:spPr>
          <a:xfrm>
            <a:off x="502920" y="6172200"/>
            <a:ext cx="17282160" cy="2423160"/>
          </a:xfrm>
          <a:prstGeom prst="roundRect">
            <a:avLst>
              <a:gd fmla="val 4528" name="adj"/>
            </a:avLst>
          </a:prstGeom>
          <a:solidFill>
            <a:srgbClr val="FEF3C7">
              <a:alpha val="90196"/>
            </a:srgbClr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4"/>
          <p:cNvSpPr/>
          <p:nvPr/>
        </p:nvSpPr>
        <p:spPr>
          <a:xfrm>
            <a:off x="640080" y="623620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Correction / versioning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8" name="Google Shape;568;p14"/>
          <p:cNvCxnSpPr/>
          <p:nvPr/>
        </p:nvCxnSpPr>
        <p:spPr>
          <a:xfrm>
            <a:off x="2788920" y="2217420"/>
            <a:ext cx="54864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69" name="Google Shape;569;p14"/>
          <p:cNvCxnSpPr/>
          <p:nvPr/>
        </p:nvCxnSpPr>
        <p:spPr>
          <a:xfrm>
            <a:off x="5486400" y="2217420"/>
            <a:ext cx="59436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0" name="Google Shape;570;p14"/>
          <p:cNvCxnSpPr/>
          <p:nvPr/>
        </p:nvCxnSpPr>
        <p:spPr>
          <a:xfrm>
            <a:off x="8503920" y="2217420"/>
            <a:ext cx="64008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1" name="Google Shape;571;p14"/>
          <p:cNvCxnSpPr/>
          <p:nvPr/>
        </p:nvCxnSpPr>
        <p:spPr>
          <a:xfrm>
            <a:off x="11292840" y="2217420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2" name="Google Shape;572;p14"/>
          <p:cNvCxnSpPr/>
          <p:nvPr/>
        </p:nvCxnSpPr>
        <p:spPr>
          <a:xfrm>
            <a:off x="4663440" y="4480560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3" name="Google Shape;573;p14"/>
          <p:cNvCxnSpPr/>
          <p:nvPr/>
        </p:nvCxnSpPr>
        <p:spPr>
          <a:xfrm flipH="1" rot="10800000">
            <a:off x="7955280" y="4475988"/>
            <a:ext cx="594360" cy="4572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4" name="Google Shape;574;p14"/>
          <p:cNvCxnSpPr/>
          <p:nvPr/>
        </p:nvCxnSpPr>
        <p:spPr>
          <a:xfrm>
            <a:off x="9646920" y="4475988"/>
            <a:ext cx="914400" cy="4572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5" name="Google Shape;575;p14"/>
          <p:cNvCxnSpPr/>
          <p:nvPr/>
        </p:nvCxnSpPr>
        <p:spPr>
          <a:xfrm>
            <a:off x="9646920" y="4475988"/>
            <a:ext cx="4480560" cy="4572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6" name="Google Shape;576;p14"/>
          <p:cNvCxnSpPr/>
          <p:nvPr/>
        </p:nvCxnSpPr>
        <p:spPr>
          <a:xfrm>
            <a:off x="4343400" y="7200900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7" name="Google Shape;577;p14"/>
          <p:cNvCxnSpPr/>
          <p:nvPr/>
        </p:nvCxnSpPr>
        <p:spPr>
          <a:xfrm>
            <a:off x="7269480" y="7200900"/>
            <a:ext cx="77724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8" name="Google Shape;578;p14"/>
          <p:cNvCxnSpPr/>
          <p:nvPr/>
        </p:nvCxnSpPr>
        <p:spPr>
          <a:xfrm>
            <a:off x="10378440" y="7200900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9" name="Google Shape;579;p14"/>
          <p:cNvCxnSpPr/>
          <p:nvPr/>
        </p:nvCxnSpPr>
        <p:spPr>
          <a:xfrm>
            <a:off x="13487400" y="7200900"/>
            <a:ext cx="64008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80" name="Google Shape;580;p14"/>
          <p:cNvCxnSpPr/>
          <p:nvPr/>
        </p:nvCxnSpPr>
        <p:spPr>
          <a:xfrm flipH="1">
            <a:off x="3108960" y="4480560"/>
            <a:ext cx="10287000" cy="242316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81" name="Google Shape;581;p14"/>
          <p:cNvCxnSpPr/>
          <p:nvPr/>
        </p:nvCxnSpPr>
        <p:spPr>
          <a:xfrm flipH="1">
            <a:off x="3383280" y="2514600"/>
            <a:ext cx="10012680" cy="164592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82" name="Google Shape;582;p14"/>
          <p:cNvCxnSpPr/>
          <p:nvPr/>
        </p:nvCxnSpPr>
        <p:spPr>
          <a:xfrm>
            <a:off x="9052560" y="4910328"/>
            <a:ext cx="0" cy="1993392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83" name="Google Shape;583;p14"/>
          <p:cNvSpPr/>
          <p:nvPr/>
        </p:nvSpPr>
        <p:spPr>
          <a:xfrm>
            <a:off x="868680" y="1920240"/>
            <a:ext cx="1920240" cy="594360"/>
          </a:xfrm>
          <a:prstGeom prst="roundRect">
            <a:avLst>
              <a:gd fmla="val 12308" name="adj"/>
            </a:avLst>
          </a:prstGeom>
          <a:solidFill>
            <a:srgbClr val="FCE7F3"/>
          </a:solidFill>
          <a:ln cap="flat" cmpd="sng" w="15225">
            <a:solidFill>
              <a:srgbClr val="DB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Mother-entered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self-reported data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14"/>
          <p:cNvSpPr/>
          <p:nvPr/>
        </p:nvSpPr>
        <p:spPr>
          <a:xfrm>
            <a:off x="3337560" y="1920240"/>
            <a:ext cx="2148840" cy="594360"/>
          </a:xfrm>
          <a:prstGeom prst="roundRect">
            <a:avLst>
              <a:gd fmla="val 12308" name="adj"/>
            </a:avLst>
          </a:prstGeom>
          <a:solidFill>
            <a:srgbClr val="F1F5F9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Uploaded document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report / prescription / image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14"/>
          <p:cNvSpPr/>
          <p:nvPr/>
        </p:nvSpPr>
        <p:spPr>
          <a:xfrm>
            <a:off x="6080760" y="1920240"/>
            <a:ext cx="2423160" cy="594360"/>
          </a:xfrm>
          <a:prstGeom prst="roundRect">
            <a:avLst>
              <a:gd fmla="val 12308" name="adj"/>
            </a:avLst>
          </a:prstGeom>
          <a:solidFill>
            <a:srgbClr val="DBEAFE"/>
          </a:solidFill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Clinician-entered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notes / diagnosis / prescription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14"/>
          <p:cNvSpPr/>
          <p:nvPr/>
        </p:nvSpPr>
        <p:spPr>
          <a:xfrm>
            <a:off x="9144000" y="1920240"/>
            <a:ext cx="2148840" cy="594360"/>
          </a:xfrm>
          <a:prstGeom prst="roundRect">
            <a:avLst>
              <a:gd fmla="val 12308" name="adj"/>
            </a:avLst>
          </a:prstGeom>
          <a:solidFill>
            <a:srgbClr val="FEE2E2"/>
          </a:solidFill>
          <a:ln cap="flat" cmpd="sng" w="152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10"/>
              <a:buFont typeface="Arial"/>
              <a:buNone/>
            </a:pPr>
            <a:r>
              <a:rPr b="0" i="0" lang="en-US" sz="81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Future device/API derived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10"/>
              <a:buFont typeface="Arial"/>
              <a:buNone/>
            </a:pPr>
            <a:r>
              <a:rPr b="0" i="0" lang="en-US" sz="81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not V1 default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14"/>
          <p:cNvSpPr/>
          <p:nvPr/>
        </p:nvSpPr>
        <p:spPr>
          <a:xfrm>
            <a:off x="11978640" y="1920240"/>
            <a:ext cx="2834640" cy="594360"/>
          </a:xfrm>
          <a:prstGeom prst="roundRect">
            <a:avLst>
              <a:gd fmla="val 12308" name="adj"/>
            </a:avLst>
          </a:prstGeom>
          <a:solidFill>
            <a:srgbClr val="F1F5F9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Attach provenance metadata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source type + actor + timestamp + context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14"/>
          <p:cNvSpPr/>
          <p:nvPr/>
        </p:nvSpPr>
        <p:spPr>
          <a:xfrm>
            <a:off x="2103120" y="4160520"/>
            <a:ext cx="2560320" cy="640080"/>
          </a:xfrm>
          <a:prstGeom prst="roundRect">
            <a:avLst>
              <a:gd fmla="val 11429" name="adj"/>
            </a:avLst>
          </a:prstGeom>
          <a:solidFill>
            <a:srgbClr val="F1F5F9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Status: self-reported / unverified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visible label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14"/>
          <p:cNvSpPr/>
          <p:nvPr/>
        </p:nvSpPr>
        <p:spPr>
          <a:xfrm>
            <a:off x="5349240" y="4160520"/>
            <a:ext cx="2606040" cy="640080"/>
          </a:xfrm>
          <a:prstGeom prst="roundRect">
            <a:avLst>
              <a:gd fmla="val 11429" name="adj"/>
            </a:avLst>
          </a:prstGeom>
          <a:solidFill>
            <a:srgbClr val="DBEAFE"/>
          </a:solidFill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10"/>
              <a:buFont typeface="Arial"/>
              <a:buNone/>
            </a:pPr>
            <a:r>
              <a:rPr b="0" i="0" lang="en-US" sz="81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Authorised clinician reviews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10"/>
              <a:buFont typeface="Arial"/>
              <a:buNone/>
            </a:pPr>
            <a:r>
              <a:rPr b="0" i="0" lang="en-US" sz="81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source data + clinical context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14"/>
          <p:cNvSpPr/>
          <p:nvPr/>
        </p:nvSpPr>
        <p:spPr>
          <a:xfrm>
            <a:off x="8549640" y="4041648"/>
            <a:ext cx="1097280" cy="868680"/>
          </a:xfrm>
          <a:prstGeom prst="diamond">
            <a:avLst/>
          </a:prstGeom>
          <a:solidFill>
            <a:srgbClr val="FEF3C7"/>
          </a:solidFill>
          <a:ln cap="flat" cmpd="sng" w="152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Confirm?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14"/>
          <p:cNvSpPr/>
          <p:nvPr/>
        </p:nvSpPr>
        <p:spPr>
          <a:xfrm>
            <a:off x="10561320" y="4160520"/>
            <a:ext cx="2834640" cy="640080"/>
          </a:xfrm>
          <a:prstGeom prst="roundRect">
            <a:avLst>
              <a:gd fmla="val 11429" name="adj"/>
            </a:avLst>
          </a:prstGeom>
          <a:solidFill>
            <a:srgbClr val="DCFCE7"/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Clinician-verified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locked against direct maternal overwrite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14"/>
          <p:cNvSpPr/>
          <p:nvPr/>
        </p:nvSpPr>
        <p:spPr>
          <a:xfrm>
            <a:off x="14127480" y="4160520"/>
            <a:ext cx="2560320" cy="640080"/>
          </a:xfrm>
          <a:prstGeom prst="roundRect">
            <a:avLst>
              <a:gd fmla="val 11429" name="adj"/>
            </a:avLst>
          </a:prstGeom>
          <a:solidFill>
            <a:srgbClr val="FEE2E2"/>
          </a:solidFill>
          <a:ln cap="flat" cmpd="sng" w="152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Leave unverified / request clarification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14"/>
          <p:cNvSpPr/>
          <p:nvPr/>
        </p:nvSpPr>
        <p:spPr>
          <a:xfrm>
            <a:off x="1920240" y="6903720"/>
            <a:ext cx="2423160" cy="594360"/>
          </a:xfrm>
          <a:prstGeom prst="roundRect">
            <a:avLst>
              <a:gd fmla="val 12308" name="adj"/>
            </a:avLst>
          </a:prstGeom>
          <a:solidFill>
            <a:srgbClr val="FCE7F3"/>
          </a:solidFill>
          <a:ln cap="flat" cmpd="sng" w="15225">
            <a:solidFill>
              <a:srgbClr val="DB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Mother requests correction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or adds new information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14"/>
          <p:cNvSpPr/>
          <p:nvPr/>
        </p:nvSpPr>
        <p:spPr>
          <a:xfrm>
            <a:off x="5029200" y="6903720"/>
            <a:ext cx="2240280" cy="594360"/>
          </a:xfrm>
          <a:prstGeom prst="roundRect">
            <a:avLst>
              <a:gd fmla="val 12308" name="adj"/>
            </a:avLst>
          </a:prstGeom>
          <a:solidFill>
            <a:srgbClr val="CFFAFE"/>
          </a:solidFill>
          <a:ln cap="flat" cmpd="sng" w="152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Correction queue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for clinician/admin review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14"/>
          <p:cNvSpPr/>
          <p:nvPr/>
        </p:nvSpPr>
        <p:spPr>
          <a:xfrm>
            <a:off x="8046720" y="6903720"/>
            <a:ext cx="2331720" cy="594360"/>
          </a:xfrm>
          <a:prstGeom prst="roundRect">
            <a:avLst>
              <a:gd fmla="val 12308" name="adj"/>
            </a:avLst>
          </a:prstGeom>
          <a:solidFill>
            <a:srgbClr val="F1F5F9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Create new version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old value retained in history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14"/>
          <p:cNvSpPr/>
          <p:nvPr/>
        </p:nvSpPr>
        <p:spPr>
          <a:xfrm>
            <a:off x="11064240" y="6903720"/>
            <a:ext cx="2423160" cy="594360"/>
          </a:xfrm>
          <a:prstGeom prst="roundRect">
            <a:avLst>
              <a:gd fmla="val 12308" name="adj"/>
            </a:avLst>
          </a:prstGeom>
          <a:solidFill>
            <a:srgbClr val="F1F5F9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Audit entry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entered, verified, corrected, viewed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14"/>
          <p:cNvSpPr/>
          <p:nvPr/>
        </p:nvSpPr>
        <p:spPr>
          <a:xfrm>
            <a:off x="14127480" y="6903720"/>
            <a:ext cx="2560320" cy="594360"/>
          </a:xfrm>
          <a:prstGeom prst="roundRect">
            <a:avLst>
              <a:gd fmla="val 12308" name="adj"/>
            </a:avLst>
          </a:prstGeom>
          <a:solidFill>
            <a:srgbClr val="FEE2E2"/>
          </a:solidFill>
          <a:ln cap="flat" cmpd="sng" w="152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Factual summary references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verified + unverified source records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14"/>
          <p:cNvSpPr/>
          <p:nvPr/>
        </p:nvSpPr>
        <p:spPr>
          <a:xfrm>
            <a:off x="2743200" y="8549640"/>
            <a:ext cx="12801600" cy="594360"/>
          </a:xfrm>
          <a:prstGeom prst="roundRect">
            <a:avLst>
              <a:gd fmla="val 12308" name="adj"/>
            </a:avLst>
          </a:prstGeom>
          <a:solidFill>
            <a:srgbClr val="FFFFFF"/>
          </a:solidFill>
          <a:ln cap="flat" cmpd="sng" w="15225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10"/>
              <a:buFont typeface="Arial"/>
              <a:buNone/>
            </a:pPr>
            <a:r>
              <a:rPr b="0" i="0" lang="en-US" sz="81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Examples of lockable fields: blood group/Rh, clinically relevant allergies, gravida/para, confirmed EDD, chronic diagnoses, significant pregnancy complications, important investigation results, doctor-defined monitoring plan.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14"/>
          <p:cNvSpPr/>
          <p:nvPr/>
        </p:nvSpPr>
        <p:spPr>
          <a:xfrm>
            <a:off x="502920" y="9930384"/>
            <a:ext cx="17282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Tinytums V1 — engineering diagram canvas | rounded = workflow action | diamond = decision | cylinder = stored data | dashed = data/access relation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D"/>
        </a:solidFill>
      </p:bgPr>
    </p:bg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BFD"/>
          </a:solidFill>
          <a:ln cap="flat" cmpd="sng" w="12700">
            <a:solidFill>
              <a:srgbClr val="FAFBF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5"/>
          <p:cNvSpPr/>
          <p:nvPr/>
        </p:nvSpPr>
        <p:spPr>
          <a:xfrm>
            <a:off x="384048" y="320040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15"/>
          <p:cNvSpPr/>
          <p:nvPr/>
        </p:nvSpPr>
        <p:spPr>
          <a:xfrm>
            <a:off x="1143000" y="201168"/>
            <a:ext cx="1243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Communication, Teleconsultation &amp; Visit Summary Flow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15"/>
          <p:cNvSpPr/>
          <p:nvPr/>
        </p:nvSpPr>
        <p:spPr>
          <a:xfrm>
            <a:off x="1005840" y="713232"/>
            <a:ext cx="1627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V1 can facilitate messaging, complaint submission, records, teleconsults, and prescriptions; clinician decides appropriateness and care.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9" name="Google Shape;609;p15"/>
          <p:cNvCxnSpPr/>
          <p:nvPr/>
        </p:nvCxnSpPr>
        <p:spPr>
          <a:xfrm>
            <a:off x="502920" y="1124712"/>
            <a:ext cx="17282160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0" name="Google Shape;610;p15"/>
          <p:cNvSpPr/>
          <p:nvPr/>
        </p:nvSpPr>
        <p:spPr>
          <a:xfrm>
            <a:off x="502920" y="1417320"/>
            <a:ext cx="17282160" cy="2240280"/>
          </a:xfrm>
          <a:prstGeom prst="roundRect">
            <a:avLst>
              <a:gd fmla="val 4898" name="adj"/>
            </a:avLst>
          </a:prstGeom>
          <a:solidFill>
            <a:srgbClr val="FCE7F3">
              <a:alpha val="90196"/>
            </a:srgbClr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5"/>
          <p:cNvSpPr/>
          <p:nvPr/>
        </p:nvSpPr>
        <p:spPr>
          <a:xfrm>
            <a:off x="640080" y="148132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Mother side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15"/>
          <p:cNvSpPr/>
          <p:nvPr/>
        </p:nvSpPr>
        <p:spPr>
          <a:xfrm>
            <a:off x="502920" y="3977640"/>
            <a:ext cx="17282160" cy="2057400"/>
          </a:xfrm>
          <a:prstGeom prst="roundRect">
            <a:avLst>
              <a:gd fmla="val 5333" name="adj"/>
            </a:avLst>
          </a:prstGeom>
          <a:solidFill>
            <a:srgbClr val="CFFAFE">
              <a:alpha val="90196"/>
            </a:srgbClr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5"/>
          <p:cNvSpPr/>
          <p:nvPr/>
        </p:nvSpPr>
        <p:spPr>
          <a:xfrm>
            <a:off x="640080" y="404164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Tinytums communication layer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15"/>
          <p:cNvSpPr/>
          <p:nvPr/>
        </p:nvSpPr>
        <p:spPr>
          <a:xfrm>
            <a:off x="502920" y="6355080"/>
            <a:ext cx="17282160" cy="2514600"/>
          </a:xfrm>
          <a:prstGeom prst="roundRect">
            <a:avLst>
              <a:gd fmla="val 4364" name="adj"/>
            </a:avLst>
          </a:prstGeom>
          <a:solidFill>
            <a:srgbClr val="DBEAFE">
              <a:alpha val="90196"/>
            </a:srgbClr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5"/>
          <p:cNvSpPr/>
          <p:nvPr/>
        </p:nvSpPr>
        <p:spPr>
          <a:xfrm>
            <a:off x="640080" y="641908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Clinician side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6" name="Google Shape;616;p15"/>
          <p:cNvCxnSpPr/>
          <p:nvPr/>
        </p:nvCxnSpPr>
        <p:spPr>
          <a:xfrm>
            <a:off x="3291840" y="2171700"/>
            <a:ext cx="59436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7" name="Google Shape;617;p15"/>
          <p:cNvCxnSpPr/>
          <p:nvPr/>
        </p:nvCxnSpPr>
        <p:spPr>
          <a:xfrm>
            <a:off x="6035040" y="2171700"/>
            <a:ext cx="54864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8" name="Google Shape;618;p15"/>
          <p:cNvCxnSpPr/>
          <p:nvPr/>
        </p:nvCxnSpPr>
        <p:spPr>
          <a:xfrm>
            <a:off x="9098280" y="2171700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9" name="Google Shape;619;p15"/>
          <p:cNvCxnSpPr/>
          <p:nvPr/>
        </p:nvCxnSpPr>
        <p:spPr>
          <a:xfrm>
            <a:off x="12252960" y="2171700"/>
            <a:ext cx="731520" cy="4572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0" name="Google Shape;620;p15"/>
          <p:cNvCxnSpPr/>
          <p:nvPr/>
        </p:nvCxnSpPr>
        <p:spPr>
          <a:xfrm flipH="1" rot="10800000">
            <a:off x="14173200" y="1897380"/>
            <a:ext cx="731520" cy="278892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1" name="Google Shape;621;p15"/>
          <p:cNvCxnSpPr/>
          <p:nvPr/>
        </p:nvCxnSpPr>
        <p:spPr>
          <a:xfrm>
            <a:off x="14173200" y="2176272"/>
            <a:ext cx="731520" cy="818388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2" name="Google Shape;622;p15"/>
          <p:cNvCxnSpPr/>
          <p:nvPr/>
        </p:nvCxnSpPr>
        <p:spPr>
          <a:xfrm>
            <a:off x="3749040" y="4823460"/>
            <a:ext cx="73152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3" name="Google Shape;623;p15"/>
          <p:cNvCxnSpPr/>
          <p:nvPr/>
        </p:nvCxnSpPr>
        <p:spPr>
          <a:xfrm>
            <a:off x="6720840" y="4823460"/>
            <a:ext cx="64008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4" name="Google Shape;624;p15"/>
          <p:cNvCxnSpPr/>
          <p:nvPr/>
        </p:nvCxnSpPr>
        <p:spPr>
          <a:xfrm>
            <a:off x="10104120" y="4823460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5" name="Google Shape;625;p15"/>
          <p:cNvCxnSpPr/>
          <p:nvPr/>
        </p:nvCxnSpPr>
        <p:spPr>
          <a:xfrm>
            <a:off x="13350240" y="4823460"/>
            <a:ext cx="68580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6" name="Google Shape;626;p15"/>
          <p:cNvCxnSpPr/>
          <p:nvPr/>
        </p:nvCxnSpPr>
        <p:spPr>
          <a:xfrm>
            <a:off x="7132320" y="7658100"/>
            <a:ext cx="77724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7" name="Google Shape;627;p15"/>
          <p:cNvCxnSpPr/>
          <p:nvPr/>
        </p:nvCxnSpPr>
        <p:spPr>
          <a:xfrm>
            <a:off x="11567160" y="7658100"/>
            <a:ext cx="77724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8" name="Google Shape;628;p15"/>
          <p:cNvCxnSpPr/>
          <p:nvPr/>
        </p:nvCxnSpPr>
        <p:spPr>
          <a:xfrm flipH="1">
            <a:off x="8732520" y="2194560"/>
            <a:ext cx="7223760" cy="228600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9" name="Google Shape;629;p15"/>
          <p:cNvCxnSpPr/>
          <p:nvPr/>
        </p:nvCxnSpPr>
        <p:spPr>
          <a:xfrm flipH="1">
            <a:off x="8732520" y="3291840"/>
            <a:ext cx="7223760" cy="118872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30" name="Google Shape;630;p15"/>
          <p:cNvCxnSpPr/>
          <p:nvPr/>
        </p:nvCxnSpPr>
        <p:spPr>
          <a:xfrm flipH="1">
            <a:off x="5166360" y="5166360"/>
            <a:ext cx="3566160" cy="214884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31" name="Google Shape;631;p15"/>
          <p:cNvCxnSpPr/>
          <p:nvPr/>
        </p:nvCxnSpPr>
        <p:spPr>
          <a:xfrm>
            <a:off x="12070080" y="2468880"/>
            <a:ext cx="2011680" cy="205740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32" name="Google Shape;632;p15"/>
          <p:cNvSpPr/>
          <p:nvPr/>
        </p:nvSpPr>
        <p:spPr>
          <a:xfrm>
            <a:off x="868680" y="1874520"/>
            <a:ext cx="2423160" cy="594360"/>
          </a:xfrm>
          <a:prstGeom prst="roundRect">
            <a:avLst>
              <a:gd fmla="val 12308" name="adj"/>
            </a:avLst>
          </a:prstGeom>
          <a:solidFill>
            <a:srgbClr val="FCE7F3"/>
          </a:solidFill>
          <a:ln cap="flat" cmpd="sng" w="15225">
            <a:solidFill>
              <a:srgbClr val="DB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Mother has question / symptom / follow-up need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15"/>
          <p:cNvSpPr/>
          <p:nvPr/>
        </p:nvSpPr>
        <p:spPr>
          <a:xfrm>
            <a:off x="3886200" y="1874520"/>
            <a:ext cx="2148840" cy="594360"/>
          </a:xfrm>
          <a:prstGeom prst="roundRect">
            <a:avLst>
              <a:gd fmla="val 12308" name="adj"/>
            </a:avLst>
          </a:prstGeom>
          <a:solidFill>
            <a:srgbClr val="CFFAFE"/>
          </a:solidFill>
          <a:ln cap="flat" cmpd="sng" w="152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Select channel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message / visit / teleconsult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15"/>
          <p:cNvSpPr/>
          <p:nvPr/>
        </p:nvSpPr>
        <p:spPr>
          <a:xfrm>
            <a:off x="6583680" y="1874520"/>
            <a:ext cx="2514600" cy="594360"/>
          </a:xfrm>
          <a:prstGeom prst="roundRect">
            <a:avLst>
              <a:gd fmla="val 12308" name="adj"/>
            </a:avLst>
          </a:prstGeom>
          <a:solidFill>
            <a:srgbClr val="F1F5F9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Structured packet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complaint + vitals + reports + questions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15"/>
          <p:cNvSpPr/>
          <p:nvPr/>
        </p:nvSpPr>
        <p:spPr>
          <a:xfrm>
            <a:off x="9784080" y="1874520"/>
            <a:ext cx="2468880" cy="594360"/>
          </a:xfrm>
          <a:prstGeom prst="roundRect">
            <a:avLst>
              <a:gd fmla="val 12308" name="adj"/>
            </a:avLst>
          </a:prstGeom>
          <a:solidFill>
            <a:srgbClr val="EDE9FE"/>
          </a:solidFill>
          <a:ln cap="flat" cmpd="sng" w="152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Consent/access check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right doctor/institution/context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15"/>
          <p:cNvSpPr/>
          <p:nvPr/>
        </p:nvSpPr>
        <p:spPr>
          <a:xfrm>
            <a:off x="12984480" y="1719072"/>
            <a:ext cx="1188720" cy="914400"/>
          </a:xfrm>
          <a:prstGeom prst="diamond">
            <a:avLst/>
          </a:prstGeom>
          <a:solidFill>
            <a:srgbClr val="FEF3C7"/>
          </a:solidFill>
          <a:ln cap="flat" cmpd="sng" w="152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Clinician decides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teleconsult appropriate?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15"/>
          <p:cNvSpPr/>
          <p:nvPr/>
        </p:nvSpPr>
        <p:spPr>
          <a:xfrm>
            <a:off x="14904720" y="1600200"/>
            <a:ext cx="2148840" cy="594360"/>
          </a:xfrm>
          <a:prstGeom prst="roundRect">
            <a:avLst>
              <a:gd fmla="val 12308" name="adj"/>
            </a:avLst>
          </a:prstGeom>
          <a:solidFill>
            <a:srgbClr val="DBEAFE"/>
          </a:solidFill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Teleconsult / call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doctor-led clinical decision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15"/>
          <p:cNvSpPr/>
          <p:nvPr/>
        </p:nvSpPr>
        <p:spPr>
          <a:xfrm>
            <a:off x="14904720" y="2697480"/>
            <a:ext cx="2148840" cy="594360"/>
          </a:xfrm>
          <a:prstGeom prst="roundRect">
            <a:avLst>
              <a:gd fmla="val 12308" name="adj"/>
            </a:avLst>
          </a:prstGeom>
          <a:solidFill>
            <a:srgbClr val="DBEAFE"/>
          </a:solidFill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Ask for in-person visit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when examination needed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15"/>
          <p:cNvSpPr/>
          <p:nvPr/>
        </p:nvSpPr>
        <p:spPr>
          <a:xfrm>
            <a:off x="1828800" y="4526280"/>
            <a:ext cx="1920240" cy="594360"/>
          </a:xfrm>
          <a:prstGeom prst="roundRect">
            <a:avLst>
              <a:gd fmla="val 12308" name="adj"/>
            </a:avLst>
          </a:prstGeom>
          <a:solidFill>
            <a:srgbClr val="CFFAFE"/>
          </a:solidFill>
          <a:ln cap="flat" cmpd="sng" w="152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Secure message thread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context-linked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15"/>
          <p:cNvSpPr/>
          <p:nvPr/>
        </p:nvSpPr>
        <p:spPr>
          <a:xfrm>
            <a:off x="4480560" y="4526280"/>
            <a:ext cx="2240280" cy="594360"/>
          </a:xfrm>
          <a:prstGeom prst="roundRect">
            <a:avLst>
              <a:gd fmla="val 12308" name="adj"/>
            </a:avLst>
          </a:prstGeom>
          <a:solidFill>
            <a:srgbClr val="F1F5F9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Records/documents visible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according to permission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15"/>
          <p:cNvSpPr/>
          <p:nvPr/>
        </p:nvSpPr>
        <p:spPr>
          <a:xfrm>
            <a:off x="7360920" y="4480560"/>
            <a:ext cx="2743200" cy="685800"/>
          </a:xfrm>
          <a:prstGeom prst="roundRect">
            <a:avLst>
              <a:gd fmla="val 10667" name="adj"/>
            </a:avLst>
          </a:prstGeom>
          <a:solidFill>
            <a:srgbClr val="DBEAFE"/>
          </a:solidFill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Encounter completed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advice/prescription/referral/follow-up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15"/>
          <p:cNvSpPr/>
          <p:nvPr/>
        </p:nvSpPr>
        <p:spPr>
          <a:xfrm>
            <a:off x="10789920" y="4526280"/>
            <a:ext cx="2560320" cy="594360"/>
          </a:xfrm>
          <a:prstGeom prst="roundRect">
            <a:avLst>
              <a:gd fmla="val 12308" name="adj"/>
            </a:avLst>
          </a:prstGeom>
          <a:solidFill>
            <a:srgbClr val="F1F5F9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10"/>
              <a:buFont typeface="Arial"/>
              <a:buNone/>
            </a:pPr>
            <a:r>
              <a:rPr b="0" i="0" lang="en-US" sz="81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Store encounter record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10"/>
              <a:buFont typeface="Arial"/>
              <a:buNone/>
            </a:pPr>
            <a:r>
              <a:rPr b="0" i="0" lang="en-US" sz="81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clinician-created and attributable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15"/>
          <p:cNvSpPr/>
          <p:nvPr/>
        </p:nvSpPr>
        <p:spPr>
          <a:xfrm>
            <a:off x="14036040" y="4526280"/>
            <a:ext cx="2514600" cy="594360"/>
          </a:xfrm>
          <a:prstGeom prst="roundRect">
            <a:avLst>
              <a:gd fmla="val 12308" name="adj"/>
            </a:avLst>
          </a:prstGeom>
          <a:solidFill>
            <a:srgbClr val="FCE7F3"/>
          </a:solidFill>
          <a:ln cap="flat" cmpd="sng" w="15225">
            <a:solidFill>
              <a:srgbClr val="DB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10"/>
              <a:buFont typeface="Arial"/>
              <a:buNone/>
            </a:pPr>
            <a:r>
              <a:rPr b="0" i="0" lang="en-US" sz="81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Mother notified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10"/>
              <a:buFont typeface="Arial"/>
              <a:buNone/>
            </a:pPr>
            <a:r>
              <a:rPr b="0" i="0" lang="en-US" sz="81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can view/download/share if allowed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15"/>
          <p:cNvSpPr/>
          <p:nvPr/>
        </p:nvSpPr>
        <p:spPr>
          <a:xfrm>
            <a:off x="3200400" y="7315200"/>
            <a:ext cx="3931920" cy="685800"/>
          </a:xfrm>
          <a:prstGeom prst="roundRect">
            <a:avLst>
              <a:gd fmla="val 10667" name="adj"/>
            </a:avLst>
          </a:prstGeom>
          <a:solidFill>
            <a:srgbClr val="F1F5F9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Pre/post-visit factual summary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new entries, ranges/counts/dates; always drill-downable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15"/>
          <p:cNvSpPr/>
          <p:nvPr/>
        </p:nvSpPr>
        <p:spPr>
          <a:xfrm>
            <a:off x="7909560" y="7315200"/>
            <a:ext cx="3657600" cy="685800"/>
          </a:xfrm>
          <a:prstGeom prst="roundRect">
            <a:avLst>
              <a:gd fmla="val 10667" name="adj"/>
            </a:avLst>
          </a:prstGeom>
          <a:solidFill>
            <a:srgbClr val="FEE2E2"/>
          </a:solidFill>
          <a:ln cap="flat" cmpd="sng" w="152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V1 boundary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No automated diagnosis, urgency, risk score, or treatment recommendation.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15"/>
          <p:cNvSpPr/>
          <p:nvPr/>
        </p:nvSpPr>
        <p:spPr>
          <a:xfrm>
            <a:off x="12344400" y="7315200"/>
            <a:ext cx="3566160" cy="685800"/>
          </a:xfrm>
          <a:prstGeom prst="roundRect">
            <a:avLst>
              <a:gd fmla="val 10667" name="adj"/>
            </a:avLst>
          </a:prstGeom>
          <a:solidFill>
            <a:srgbClr val="F1F5F9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Audit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message, access, consult, prescription, document events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15"/>
          <p:cNvSpPr/>
          <p:nvPr/>
        </p:nvSpPr>
        <p:spPr>
          <a:xfrm>
            <a:off x="502920" y="9930384"/>
            <a:ext cx="17282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Tinytums V1 — engineering diagram canvas | rounded = workflow action | diamond = decision | cylinder = stored data | dashed = data/access relation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D"/>
        </a:solid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BFD"/>
          </a:solidFill>
          <a:ln cap="flat" cmpd="sng" w="12700">
            <a:solidFill>
              <a:srgbClr val="FAFBF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16"/>
          <p:cNvSpPr/>
          <p:nvPr/>
        </p:nvSpPr>
        <p:spPr>
          <a:xfrm>
            <a:off x="384048" y="320040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16"/>
          <p:cNvSpPr/>
          <p:nvPr/>
        </p:nvSpPr>
        <p:spPr>
          <a:xfrm>
            <a:off x="1143000" y="201168"/>
            <a:ext cx="1243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V1 Regulatory Boundary &amp; Developer Implementation Sequence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16"/>
          <p:cNvSpPr/>
          <p:nvPr/>
        </p:nvSpPr>
        <p:spPr>
          <a:xfrm>
            <a:off x="1005840" y="713232"/>
            <a:ext cx="1627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 safe build order: ship non-device workflows first; keep future clinical intelligence architecturally separable.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7" name="Google Shape;657;p16"/>
          <p:cNvCxnSpPr/>
          <p:nvPr/>
        </p:nvCxnSpPr>
        <p:spPr>
          <a:xfrm>
            <a:off x="502920" y="1124712"/>
            <a:ext cx="17282160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8" name="Google Shape;658;p16"/>
          <p:cNvSpPr/>
          <p:nvPr/>
        </p:nvSpPr>
        <p:spPr>
          <a:xfrm>
            <a:off x="502920" y="1417320"/>
            <a:ext cx="17282160" cy="2240280"/>
          </a:xfrm>
          <a:prstGeom prst="roundRect">
            <a:avLst>
              <a:gd fmla="val 4898" name="adj"/>
            </a:avLst>
          </a:prstGeom>
          <a:solidFill>
            <a:srgbClr val="DCFCE7">
              <a:alpha val="90196"/>
            </a:srgbClr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16"/>
          <p:cNvSpPr/>
          <p:nvPr/>
        </p:nvSpPr>
        <p:spPr>
          <a:xfrm>
            <a:off x="640080" y="148132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Allowed in V1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16"/>
          <p:cNvSpPr/>
          <p:nvPr/>
        </p:nvSpPr>
        <p:spPr>
          <a:xfrm>
            <a:off x="502920" y="4023360"/>
            <a:ext cx="17282160" cy="2240280"/>
          </a:xfrm>
          <a:prstGeom prst="roundRect">
            <a:avLst>
              <a:gd fmla="val 4898" name="adj"/>
            </a:avLst>
          </a:prstGeom>
          <a:solidFill>
            <a:srgbClr val="FEE2E2">
              <a:alpha val="90196"/>
            </a:srgbClr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16"/>
          <p:cNvSpPr/>
          <p:nvPr/>
        </p:nvSpPr>
        <p:spPr>
          <a:xfrm>
            <a:off x="640080" y="408736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Regulatory gate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16"/>
          <p:cNvSpPr/>
          <p:nvPr/>
        </p:nvSpPr>
        <p:spPr>
          <a:xfrm>
            <a:off x="502920" y="6629400"/>
            <a:ext cx="17282160" cy="2377440"/>
          </a:xfrm>
          <a:prstGeom prst="roundRect">
            <a:avLst>
              <a:gd fmla="val 4615" name="adj"/>
            </a:avLst>
          </a:prstGeom>
          <a:solidFill>
            <a:srgbClr val="F1F5F9">
              <a:alpha val="90196"/>
            </a:srgbClr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16"/>
          <p:cNvSpPr/>
          <p:nvPr/>
        </p:nvSpPr>
        <p:spPr>
          <a:xfrm>
            <a:off x="640080" y="669340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Suggested implementation order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4" name="Google Shape;664;p16"/>
          <p:cNvCxnSpPr/>
          <p:nvPr/>
        </p:nvCxnSpPr>
        <p:spPr>
          <a:xfrm>
            <a:off x="3154680" y="2171700"/>
            <a:ext cx="64008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65" name="Google Shape;665;p16"/>
          <p:cNvCxnSpPr/>
          <p:nvPr/>
        </p:nvCxnSpPr>
        <p:spPr>
          <a:xfrm>
            <a:off x="6537960" y="2171700"/>
            <a:ext cx="64008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66" name="Google Shape;666;p16"/>
          <p:cNvCxnSpPr/>
          <p:nvPr/>
        </p:nvCxnSpPr>
        <p:spPr>
          <a:xfrm>
            <a:off x="9509760" y="2171700"/>
            <a:ext cx="64008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67" name="Google Shape;667;p16"/>
          <p:cNvCxnSpPr/>
          <p:nvPr/>
        </p:nvCxnSpPr>
        <p:spPr>
          <a:xfrm>
            <a:off x="12390120" y="2171700"/>
            <a:ext cx="64008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68" name="Google Shape;668;p16"/>
          <p:cNvCxnSpPr/>
          <p:nvPr/>
        </p:nvCxnSpPr>
        <p:spPr>
          <a:xfrm>
            <a:off x="8686800" y="5006340"/>
            <a:ext cx="100584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69" name="Google Shape;669;p16"/>
          <p:cNvCxnSpPr/>
          <p:nvPr/>
        </p:nvCxnSpPr>
        <p:spPr>
          <a:xfrm>
            <a:off x="3520440" y="7635240"/>
            <a:ext cx="54864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70" name="Google Shape;670;p16"/>
          <p:cNvCxnSpPr/>
          <p:nvPr/>
        </p:nvCxnSpPr>
        <p:spPr>
          <a:xfrm>
            <a:off x="6675120" y="7635240"/>
            <a:ext cx="54864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71" name="Google Shape;671;p16"/>
          <p:cNvCxnSpPr/>
          <p:nvPr/>
        </p:nvCxnSpPr>
        <p:spPr>
          <a:xfrm>
            <a:off x="9646920" y="7635240"/>
            <a:ext cx="50292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72" name="Google Shape;672;p16"/>
          <p:cNvCxnSpPr/>
          <p:nvPr/>
        </p:nvCxnSpPr>
        <p:spPr>
          <a:xfrm>
            <a:off x="12618720" y="7635240"/>
            <a:ext cx="502920" cy="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73" name="Google Shape;673;p16"/>
          <p:cNvCxnSpPr/>
          <p:nvPr/>
        </p:nvCxnSpPr>
        <p:spPr>
          <a:xfrm flipH="1">
            <a:off x="9144000" y="7955280"/>
            <a:ext cx="5166360" cy="68580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74" name="Google Shape;674;p16"/>
          <p:cNvCxnSpPr/>
          <p:nvPr/>
        </p:nvCxnSpPr>
        <p:spPr>
          <a:xfrm flipH="1">
            <a:off x="5852160" y="2468880"/>
            <a:ext cx="6903720" cy="2103120"/>
          </a:xfrm>
          <a:prstGeom prst="straightConnector1">
            <a:avLst/>
          </a:prstGeom>
          <a:noFill/>
          <a:ln cap="flat" cmpd="sng" w="13950">
            <a:solidFill>
              <a:srgbClr val="DC262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75" name="Google Shape;675;p16"/>
          <p:cNvCxnSpPr/>
          <p:nvPr/>
        </p:nvCxnSpPr>
        <p:spPr>
          <a:xfrm>
            <a:off x="5715000" y="5440680"/>
            <a:ext cx="4526280" cy="1874520"/>
          </a:xfrm>
          <a:prstGeom prst="straightConnector1">
            <a:avLst/>
          </a:prstGeom>
          <a:noFill/>
          <a:ln cap="flat" cmpd="sng" w="139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76" name="Google Shape;676;p16"/>
          <p:cNvSpPr/>
          <p:nvPr/>
        </p:nvSpPr>
        <p:spPr>
          <a:xfrm>
            <a:off x="914400" y="1874520"/>
            <a:ext cx="2240280" cy="594360"/>
          </a:xfrm>
          <a:prstGeom prst="roundRect">
            <a:avLst>
              <a:gd fmla="val 12308" name="adj"/>
            </a:avLst>
          </a:prstGeom>
          <a:solidFill>
            <a:srgbClr val="DCFCE7"/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10"/>
              <a:buFont typeface="Arial"/>
              <a:buNone/>
            </a:pPr>
            <a:r>
              <a:rPr b="0" i="0" lang="en-US" sz="81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Collect / organise data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10"/>
              <a:buFont typeface="Arial"/>
              <a:buNone/>
            </a:pPr>
            <a:r>
              <a:rPr b="0" i="0" lang="en-US" sz="81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profiles, measurements, reports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16"/>
          <p:cNvSpPr/>
          <p:nvPr/>
        </p:nvSpPr>
        <p:spPr>
          <a:xfrm>
            <a:off x="3794760" y="1874520"/>
            <a:ext cx="2743200" cy="594360"/>
          </a:xfrm>
          <a:prstGeom prst="roundRect">
            <a:avLst>
              <a:gd fmla="val 12308" name="adj"/>
            </a:avLst>
          </a:prstGeom>
          <a:solidFill>
            <a:srgbClr val="DCFCE7"/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90"/>
              <a:buFont typeface="Arial"/>
              <a:buNone/>
            </a:pPr>
            <a:r>
              <a:rPr b="0" i="0" lang="en-US" sz="79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Display trends, dates, counts, ranges</a:t>
            </a:r>
            <a:endParaRPr b="0" i="0" sz="7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90"/>
              <a:buFont typeface="Arial"/>
              <a:buNone/>
            </a:pPr>
            <a:r>
              <a:rPr b="0" i="0" lang="en-US" sz="79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without abnormality labels</a:t>
            </a:r>
            <a:endParaRPr b="0" i="0" sz="7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16"/>
          <p:cNvSpPr/>
          <p:nvPr/>
        </p:nvSpPr>
        <p:spPr>
          <a:xfrm>
            <a:off x="7178040" y="1874520"/>
            <a:ext cx="2331720" cy="594360"/>
          </a:xfrm>
          <a:prstGeom prst="roundRect">
            <a:avLst>
              <a:gd fmla="val 12308" name="adj"/>
            </a:avLst>
          </a:prstGeom>
          <a:solidFill>
            <a:srgbClr val="DCFCE7"/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10"/>
              <a:buFont typeface="Arial"/>
              <a:buNone/>
            </a:pPr>
            <a:r>
              <a:rPr b="0" i="0" lang="en-US" sz="81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Share records by consent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10"/>
              <a:buFont typeface="Arial"/>
              <a:buNone/>
            </a:pPr>
            <a:r>
              <a:rPr b="0" i="0" lang="en-US" sz="81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with doctors/caregivers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16"/>
          <p:cNvSpPr/>
          <p:nvPr/>
        </p:nvSpPr>
        <p:spPr>
          <a:xfrm>
            <a:off x="10149840" y="1874520"/>
            <a:ext cx="2240280" cy="594360"/>
          </a:xfrm>
          <a:prstGeom prst="roundRect">
            <a:avLst>
              <a:gd fmla="val 12308" name="adj"/>
            </a:avLst>
          </a:prstGeom>
          <a:solidFill>
            <a:srgbClr val="DCFCE7"/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Generate factual summary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link to source data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16"/>
          <p:cNvSpPr/>
          <p:nvPr/>
        </p:nvSpPr>
        <p:spPr>
          <a:xfrm>
            <a:off x="13030200" y="1874520"/>
            <a:ext cx="2148840" cy="594360"/>
          </a:xfrm>
          <a:prstGeom prst="roundRect">
            <a:avLst>
              <a:gd fmla="val 12308" name="adj"/>
            </a:avLst>
          </a:prstGeom>
          <a:solidFill>
            <a:srgbClr val="DCFCE7"/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Facilitate teleconsult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clinician-led care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16"/>
          <p:cNvSpPr/>
          <p:nvPr/>
        </p:nvSpPr>
        <p:spPr>
          <a:xfrm>
            <a:off x="2743200" y="4572000"/>
            <a:ext cx="5943600" cy="868680"/>
          </a:xfrm>
          <a:prstGeom prst="roundRect">
            <a:avLst>
              <a:gd fmla="val 8421" name="adj"/>
            </a:avLst>
          </a:prstGeom>
          <a:solidFill>
            <a:srgbClr val="FEE2E2"/>
          </a:solidFill>
          <a:ln cap="flat" cmpd="sng" w="152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NOT V1 commercial activation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automated abnormality flags, urgency labels, triage, diagnosis, deterioration prediction, clinical risk stratification, treatment recommendations, medicine changes, clinical counselling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16"/>
          <p:cNvSpPr/>
          <p:nvPr/>
        </p:nvSpPr>
        <p:spPr>
          <a:xfrm>
            <a:off x="9692640" y="4572000"/>
            <a:ext cx="6126480" cy="868680"/>
          </a:xfrm>
          <a:prstGeom prst="roundRect">
            <a:avLst>
              <a:gd fmla="val 8421" name="adj"/>
            </a:avLst>
          </a:prstGeom>
          <a:solidFill>
            <a:srgbClr val="FEE2E2"/>
          </a:solidFill>
          <a:ln cap="flat" cmpd="sng" w="152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Regulatory gate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intended-use statement → CDSCO classification → technical validation → clinical validation → QMS → post-market plan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16"/>
          <p:cNvSpPr/>
          <p:nvPr/>
        </p:nvSpPr>
        <p:spPr>
          <a:xfrm>
            <a:off x="914400" y="7315200"/>
            <a:ext cx="2606040" cy="640080"/>
          </a:xfrm>
          <a:prstGeom prst="roundRect">
            <a:avLst>
              <a:gd fmla="val 11429" name="adj"/>
            </a:avLst>
          </a:prstGeom>
          <a:solidFill>
            <a:srgbClr val="F1F5F9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1. Identity + accounts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Mother, caregiver, professionals, institution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16"/>
          <p:cNvSpPr/>
          <p:nvPr/>
        </p:nvSpPr>
        <p:spPr>
          <a:xfrm>
            <a:off x="4069080" y="7315200"/>
            <a:ext cx="2606040" cy="640080"/>
          </a:xfrm>
          <a:prstGeom prst="roundRect">
            <a:avLst>
              <a:gd fmla="val 11429" name="adj"/>
            </a:avLst>
          </a:prstGeom>
          <a:solidFill>
            <a:srgbClr val="F1F5F9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2. Core data model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Maternal, pregnancy, child, documents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16"/>
          <p:cNvSpPr/>
          <p:nvPr/>
        </p:nvSpPr>
        <p:spPr>
          <a:xfrm>
            <a:off x="7223760" y="7315200"/>
            <a:ext cx="2423160" cy="640080"/>
          </a:xfrm>
          <a:prstGeom prst="roundRect">
            <a:avLst>
              <a:gd fmla="val 11429" name="adj"/>
            </a:avLst>
          </a:prstGeom>
          <a:solidFill>
            <a:srgbClr val="EDE9FE"/>
          </a:solidFill>
          <a:ln cap="flat" cmpd="sng" w="152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3. Consent + RBAC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share/revoke + audit events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16"/>
          <p:cNvSpPr/>
          <p:nvPr/>
        </p:nvSpPr>
        <p:spPr>
          <a:xfrm>
            <a:off x="10149840" y="7315200"/>
            <a:ext cx="2468880" cy="640080"/>
          </a:xfrm>
          <a:prstGeom prst="roundRect">
            <a:avLst>
              <a:gd fmla="val 11429" name="adj"/>
            </a:avLst>
          </a:prstGeom>
          <a:solidFill>
            <a:srgbClr val="CFFAFE"/>
          </a:solidFill>
          <a:ln cap="flat" cmpd="sng" w="152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4. Appointments + dashboards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queues, visits, summaries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16"/>
          <p:cNvSpPr/>
          <p:nvPr/>
        </p:nvSpPr>
        <p:spPr>
          <a:xfrm>
            <a:off x="13121640" y="7315200"/>
            <a:ext cx="2468880" cy="640080"/>
          </a:xfrm>
          <a:prstGeom prst="roundRect">
            <a:avLst>
              <a:gd fmla="val 11429" name="adj"/>
            </a:avLst>
          </a:prstGeom>
          <a:solidFill>
            <a:srgbClr val="DCFCE7"/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5. Admission episode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care team + discharge access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16"/>
          <p:cNvSpPr/>
          <p:nvPr/>
        </p:nvSpPr>
        <p:spPr>
          <a:xfrm>
            <a:off x="7498080" y="8641080"/>
            <a:ext cx="3291840" cy="640080"/>
          </a:xfrm>
          <a:prstGeom prst="roundRect">
            <a:avLst>
              <a:gd fmla="val 11429" name="adj"/>
            </a:avLst>
          </a:prstGeom>
          <a:solidFill>
            <a:srgbClr val="FFEDD5"/>
          </a:solidFill>
          <a:ln cap="flat" cmpd="sng" w="15225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6. Teleconsult + pilot metrics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then V2 intelligence only after gate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16"/>
          <p:cNvSpPr/>
          <p:nvPr/>
        </p:nvSpPr>
        <p:spPr>
          <a:xfrm>
            <a:off x="502920" y="9930384"/>
            <a:ext cx="17282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Tinytums V1 — engineering diagram canvas | rounded = workflow action | diamond = decision | cylinder = stored data | dashed = data/access relation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